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8" r:id="rId1"/>
  </p:sldMasterIdLst>
  <p:sldIdLst>
    <p:sldId id="256" r:id="rId2"/>
    <p:sldId id="260" r:id="rId3"/>
    <p:sldId id="272" r:id="rId4"/>
    <p:sldId id="258" r:id="rId5"/>
    <p:sldId id="261" r:id="rId6"/>
    <p:sldId id="262" r:id="rId7"/>
    <p:sldId id="263" r:id="rId8"/>
    <p:sldId id="264" r:id="rId9"/>
    <p:sldId id="267" r:id="rId10"/>
    <p:sldId id="268" r:id="rId11"/>
    <p:sldId id="265" r:id="rId12"/>
    <p:sldId id="270" r:id="rId13"/>
    <p:sldId id="27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GB"/>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822FCF7C-0F3E-4DA6-BC4A-89AAA756A6D4}" type="datetimeFigureOut">
              <a:rPr lang="en-IN" smtClean="0"/>
              <a:t>11-06-2025</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71196768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22FCF7C-0F3E-4DA6-BC4A-89AAA756A6D4}"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995603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GB"/>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22FCF7C-0F3E-4DA6-BC4A-89AAA756A6D4}"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44096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22FCF7C-0F3E-4DA6-BC4A-89AAA756A6D4}" type="datetimeFigureOut">
              <a:rPr lang="en-IN" smtClean="0"/>
              <a:t>11-06-2025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3169966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22FCF7C-0F3E-4DA6-BC4A-89AAA756A6D4}" type="datetimeFigureOut">
              <a:rPr lang="en-IN" smtClean="0"/>
              <a:t>11-06-2025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3175832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22FCF7C-0F3E-4DA6-BC4A-89AAA756A6D4}" type="datetimeFigureOut">
              <a:rPr lang="en-IN" smtClean="0"/>
              <a:t>11-06-2025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1156914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822FCF7C-0F3E-4DA6-BC4A-89AAA756A6D4}" type="datetimeFigureOut">
              <a:rPr lang="en-IN" smtClean="0"/>
              <a:t>11-06-2025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2158804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22FCF7C-0F3E-4DA6-BC4A-89AAA756A6D4}" type="datetimeFigureOut">
              <a:rPr lang="en-IN" smtClean="0"/>
              <a:t>11-06-2025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1557280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GB"/>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22FCF7C-0F3E-4DA6-BC4A-89AAA756A6D4}" type="datetimeFigureOut">
              <a:rPr lang="en-IN" smtClean="0"/>
              <a:t>11-06-2025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286910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22FCF7C-0F3E-4DA6-BC4A-89AAA756A6D4}" type="datetimeFigureOut">
              <a:rPr lang="en-IN" smtClean="0"/>
              <a:t>11-06-2025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1200607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22FCF7C-0F3E-4DA6-BC4A-89AAA756A6D4}"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2257852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TextBox 11"/>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3" name="TextBox 12"/>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22FCF7C-0F3E-4DA6-BC4A-89AAA756A6D4}"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1816517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22FCF7C-0F3E-4DA6-BC4A-89AAA756A6D4}"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32019731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22FCF7C-0F3E-4DA6-BC4A-89AAA756A6D4}"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522489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GB"/>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22FCF7C-0F3E-4DA6-BC4A-89AAA756A6D4}"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125127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22FCF7C-0F3E-4DA6-BC4A-89AAA756A6D4}"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24369304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22FCF7C-0F3E-4DA6-BC4A-89AAA756A6D4}"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288DA3-E30B-4A9F-8DDB-2C507AEFB3D2}" type="slidenum">
              <a:rPr lang="en-IN" smtClean="0"/>
              <a:t>‹#›</a:t>
            </a:fld>
            <a:endParaRPr lang="en-IN"/>
          </a:p>
        </p:txBody>
      </p:sp>
    </p:spTree>
    <p:extLst>
      <p:ext uri="{BB962C8B-B14F-4D97-AF65-F5344CB8AC3E}">
        <p14:creationId xmlns:p14="http://schemas.microsoft.com/office/powerpoint/2010/main" val="863661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22FCF7C-0F3E-4DA6-BC4A-89AAA756A6D4}" type="datetimeFigureOut">
              <a:rPr lang="en-IN" smtClean="0"/>
              <a:t>11-06-2025</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9288DA3-E30B-4A9F-8DDB-2C507AEFB3D2}" type="slidenum">
              <a:rPr lang="en-IN" smtClean="0"/>
              <a:t>‹#›</a:t>
            </a:fld>
            <a:endParaRPr lang="en-IN"/>
          </a:p>
        </p:txBody>
      </p:sp>
    </p:spTree>
    <p:extLst>
      <p:ext uri="{BB962C8B-B14F-4D97-AF65-F5344CB8AC3E}">
        <p14:creationId xmlns:p14="http://schemas.microsoft.com/office/powerpoint/2010/main" val="21574429"/>
      </p:ext>
    </p:extLst>
  </p:cSld>
  <p:clrMap bg1="dk1" tx1="lt1" bg2="dk2" tx2="lt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 id="214748381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CFE3D02-EF4F-0721-26C0-C9147DA50458}"/>
              </a:ext>
            </a:extLst>
          </p:cNvPr>
          <p:cNvSpPr>
            <a:spLocks noGrp="1"/>
          </p:cNvSpPr>
          <p:nvPr>
            <p:ph type="subTitle" idx="1"/>
          </p:nvPr>
        </p:nvSpPr>
        <p:spPr>
          <a:xfrm>
            <a:off x="728471" y="3269381"/>
            <a:ext cx="3120189" cy="684998"/>
          </a:xfrm>
        </p:spPr>
        <p:txBody>
          <a:bodyPr>
            <a:normAutofit/>
          </a:bodyPr>
          <a:lstStyle/>
          <a:p>
            <a:pPr algn="l"/>
            <a:r>
              <a:rPr lang="en-IN" sz="2000" dirty="0"/>
              <a:t>Store Performance</a:t>
            </a:r>
          </a:p>
        </p:txBody>
      </p:sp>
    </p:spTree>
    <p:extLst>
      <p:ext uri="{BB962C8B-B14F-4D97-AF65-F5344CB8AC3E}">
        <p14:creationId xmlns:p14="http://schemas.microsoft.com/office/powerpoint/2010/main" val="3251699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B920E-C5A9-B6B9-BC76-86B3E440CE8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4C8B3FF-4AF8-B426-4196-FEE3373F632C}"/>
              </a:ext>
            </a:extLst>
          </p:cNvPr>
          <p:cNvSpPr>
            <a:spLocks noGrp="1"/>
          </p:cNvSpPr>
          <p:nvPr>
            <p:ph type="subTitle" idx="1"/>
          </p:nvPr>
        </p:nvSpPr>
        <p:spPr>
          <a:xfrm>
            <a:off x="473242" y="627246"/>
            <a:ext cx="2430379" cy="768417"/>
          </a:xfrm>
        </p:spPr>
        <p:txBody>
          <a:bodyPr/>
          <a:lstStyle/>
          <a:p>
            <a:pPr algn="l"/>
            <a:r>
              <a:rPr lang="en-IN" dirty="0"/>
              <a:t>Introduction</a:t>
            </a:r>
          </a:p>
          <a:p>
            <a:pPr algn="l"/>
            <a:endParaRPr lang="en-IN" dirty="0"/>
          </a:p>
          <a:p>
            <a:pPr algn="l"/>
            <a:endParaRPr lang="en-IN" dirty="0"/>
          </a:p>
          <a:p>
            <a:pPr algn="l"/>
            <a:endParaRPr lang="en-IN" dirty="0"/>
          </a:p>
          <a:p>
            <a:pPr algn="l"/>
            <a:endParaRPr lang="en-IN" dirty="0"/>
          </a:p>
        </p:txBody>
      </p:sp>
      <p:sp>
        <p:nvSpPr>
          <p:cNvPr id="2" name="TextBox 1">
            <a:extLst>
              <a:ext uri="{FF2B5EF4-FFF2-40B4-BE49-F238E27FC236}">
                <a16:creationId xmlns:a16="http://schemas.microsoft.com/office/drawing/2014/main" id="{753BBE79-D6C3-4323-4084-F589F41FC79E}"/>
              </a:ext>
            </a:extLst>
          </p:cNvPr>
          <p:cNvSpPr txBox="1"/>
          <p:nvPr/>
        </p:nvSpPr>
        <p:spPr>
          <a:xfrm>
            <a:off x="1074822" y="1582340"/>
            <a:ext cx="9224210" cy="3693319"/>
          </a:xfrm>
          <a:prstGeom prst="rect">
            <a:avLst/>
          </a:prstGeom>
          <a:noFill/>
        </p:spPr>
        <p:txBody>
          <a:bodyPr wrap="square" rtlCol="0">
            <a:spAutoFit/>
          </a:bodyPr>
          <a:lstStyle/>
          <a:p>
            <a:r>
              <a:rPr lang="en-US" dirty="0"/>
              <a:t>This data story explores and compares the performance of </a:t>
            </a:r>
            <a:r>
              <a:rPr lang="en-US" b="1" dirty="0"/>
              <a:t>co-relation stores (26 and 171)</a:t>
            </a:r>
            <a:r>
              <a:rPr lang="en-US" dirty="0"/>
              <a:t> and </a:t>
            </a:r>
            <a:r>
              <a:rPr lang="en-US" b="1" dirty="0"/>
              <a:t>trial stores (77, 86, and 88)</a:t>
            </a:r>
            <a:r>
              <a:rPr lang="en-US" dirty="0"/>
              <a:t> over the three-month period of February, March, and April. By focusing on key metrics—including </a:t>
            </a:r>
            <a:r>
              <a:rPr lang="en-US" b="1" dirty="0"/>
              <a:t>total sales (in millions)</a:t>
            </a:r>
            <a:r>
              <a:rPr lang="en-US" dirty="0"/>
              <a:t>, total customers, total transactions, and average transactions per customer—we aim to uncover patterns, correlations, and insights that inform strategic decision-making.</a:t>
            </a:r>
          </a:p>
          <a:p>
            <a:endParaRPr lang="en-US" dirty="0"/>
          </a:p>
          <a:p>
            <a:r>
              <a:rPr lang="en-US" dirty="0"/>
              <a:t>Using the Pyramid Framework as a structured approach, we delve into the dynamic trends of each store group, highlighting peaks and troughs, and identifying how trial initiatives may align with or diverge from established performance baselines.</a:t>
            </a:r>
          </a:p>
          <a:p>
            <a:endParaRPr lang="en-US" dirty="0"/>
          </a:p>
          <a:p>
            <a:r>
              <a:rPr lang="en-US" dirty="0"/>
              <a:t>This analysis sets the stage for actionable insights and data-driven recommendations to enhance overall store performance and revenue outcomes.</a:t>
            </a:r>
          </a:p>
          <a:p>
            <a:endParaRPr lang="en-IN" dirty="0"/>
          </a:p>
        </p:txBody>
      </p:sp>
    </p:spTree>
    <p:extLst>
      <p:ext uri="{BB962C8B-B14F-4D97-AF65-F5344CB8AC3E}">
        <p14:creationId xmlns:p14="http://schemas.microsoft.com/office/powerpoint/2010/main" val="972602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541B4-7EC3-AC0A-7934-5896C9B946E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043D1D5-3987-610D-7085-F228E727D973}"/>
              </a:ext>
            </a:extLst>
          </p:cNvPr>
          <p:cNvSpPr>
            <a:spLocks noGrp="1"/>
          </p:cNvSpPr>
          <p:nvPr>
            <p:ph type="subTitle" idx="1"/>
          </p:nvPr>
        </p:nvSpPr>
        <p:spPr>
          <a:xfrm>
            <a:off x="275844" y="288036"/>
            <a:ext cx="11640312" cy="6281928"/>
          </a:xfrm>
        </p:spPr>
        <p:txBody>
          <a:bodyPr/>
          <a:lstStyle/>
          <a:p>
            <a:pPr algn="l"/>
            <a:r>
              <a:rPr lang="en-IN" dirty="0"/>
              <a:t>Pyramid Framework</a:t>
            </a:r>
          </a:p>
        </p:txBody>
      </p:sp>
      <p:pic>
        <p:nvPicPr>
          <p:cNvPr id="9" name="Picture 8">
            <a:extLst>
              <a:ext uri="{FF2B5EF4-FFF2-40B4-BE49-F238E27FC236}">
                <a16:creationId xmlns:a16="http://schemas.microsoft.com/office/drawing/2014/main" id="{95B9D670-3B90-96C3-EDD5-7022B5A95A56}"/>
              </a:ext>
            </a:extLst>
          </p:cNvPr>
          <p:cNvPicPr>
            <a:picLocks noChangeAspect="1"/>
          </p:cNvPicPr>
          <p:nvPr/>
        </p:nvPicPr>
        <p:blipFill>
          <a:blip r:embed="rId2"/>
          <a:stretch>
            <a:fillRect/>
          </a:stretch>
        </p:blipFill>
        <p:spPr>
          <a:xfrm>
            <a:off x="2667000" y="0"/>
            <a:ext cx="6858000" cy="6858000"/>
          </a:xfrm>
          <a:prstGeom prst="rect">
            <a:avLst/>
          </a:prstGeom>
        </p:spPr>
      </p:pic>
    </p:spTree>
    <p:extLst>
      <p:ext uri="{BB962C8B-B14F-4D97-AF65-F5344CB8AC3E}">
        <p14:creationId xmlns:p14="http://schemas.microsoft.com/office/powerpoint/2010/main" val="4064476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246EF-6061-4A17-26E5-84C25F8BB26C}"/>
            </a:ext>
          </a:extLst>
        </p:cNvPr>
        <p:cNvGrpSpPr/>
        <p:nvPr/>
      </p:nvGrpSpPr>
      <p:grpSpPr>
        <a:xfrm>
          <a:off x="0" y="0"/>
          <a:ext cx="0" cy="0"/>
          <a:chOff x="0" y="0"/>
          <a:chExt cx="0" cy="0"/>
        </a:xfrm>
      </p:grpSpPr>
      <p:pic>
        <p:nvPicPr>
          <p:cNvPr id="4" name="Picture 3" descr="A graph of different colored lines&#10;&#10;AI-generated content may be incorrect.">
            <a:extLst>
              <a:ext uri="{FF2B5EF4-FFF2-40B4-BE49-F238E27FC236}">
                <a16:creationId xmlns:a16="http://schemas.microsoft.com/office/drawing/2014/main" id="{D0C318EB-BA53-5629-FDA2-9146958BEB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3219" y="962820"/>
            <a:ext cx="7219234" cy="4932359"/>
          </a:xfrm>
          <a:prstGeom prst="rect">
            <a:avLst/>
          </a:prstGeom>
        </p:spPr>
      </p:pic>
      <p:sp>
        <p:nvSpPr>
          <p:cNvPr id="8" name="TextBox 7">
            <a:extLst>
              <a:ext uri="{FF2B5EF4-FFF2-40B4-BE49-F238E27FC236}">
                <a16:creationId xmlns:a16="http://schemas.microsoft.com/office/drawing/2014/main" id="{097A409C-CC7D-A859-1703-F46C9DB9DE4B}"/>
              </a:ext>
            </a:extLst>
          </p:cNvPr>
          <p:cNvSpPr txBox="1"/>
          <p:nvPr/>
        </p:nvSpPr>
        <p:spPr>
          <a:xfrm>
            <a:off x="8516493" y="652154"/>
            <a:ext cx="3401568" cy="5078313"/>
          </a:xfrm>
          <a:prstGeom prst="rect">
            <a:avLst/>
          </a:prstGeom>
          <a:noFill/>
        </p:spPr>
        <p:txBody>
          <a:bodyPr wrap="square" rtlCol="0">
            <a:spAutoFit/>
          </a:bodyPr>
          <a:lstStyle/>
          <a:p>
            <a:r>
              <a:rPr lang="en-IN" dirty="0"/>
              <a:t>Data patterns :-</a:t>
            </a:r>
          </a:p>
          <a:p>
            <a:endParaRPr lang="en-IN" dirty="0"/>
          </a:p>
          <a:p>
            <a:r>
              <a:rPr lang="en-IN" dirty="0"/>
              <a:t>In Feb. month sales mostly touching 8 value But in march there have signific change in starting of march sales goes up for some time and  then after 10 days then goes down and then they spikes goes up and down.</a:t>
            </a:r>
          </a:p>
          <a:p>
            <a:endParaRPr lang="en-IN" dirty="0"/>
          </a:p>
          <a:p>
            <a:r>
              <a:rPr lang="en-IN" dirty="0"/>
              <a:t>But in April there total different sales goes drastically down in starting of April after 10 days sales goes up for 4- 5 days and again sales goes down.</a:t>
            </a:r>
          </a:p>
          <a:p>
            <a:r>
              <a:rPr lang="en-IN" dirty="0"/>
              <a:t>And continuously going down and down .In April highest peak was 10 and lowest is 4</a:t>
            </a:r>
          </a:p>
        </p:txBody>
      </p:sp>
      <p:sp>
        <p:nvSpPr>
          <p:cNvPr id="2" name="TextBox 1">
            <a:extLst>
              <a:ext uri="{FF2B5EF4-FFF2-40B4-BE49-F238E27FC236}">
                <a16:creationId xmlns:a16="http://schemas.microsoft.com/office/drawing/2014/main" id="{AA316861-DED1-6E6A-4EDA-5913B3E62116}"/>
              </a:ext>
            </a:extLst>
          </p:cNvPr>
          <p:cNvSpPr txBox="1"/>
          <p:nvPr/>
        </p:nvSpPr>
        <p:spPr>
          <a:xfrm>
            <a:off x="434294" y="190489"/>
            <a:ext cx="550016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u="sng" dirty="0"/>
              <a:t>Store 77- (trail store) Performance </a:t>
            </a:r>
          </a:p>
        </p:txBody>
      </p:sp>
      <p:cxnSp>
        <p:nvCxnSpPr>
          <p:cNvPr id="10" name="Straight Arrow Connector 9">
            <a:extLst>
              <a:ext uri="{FF2B5EF4-FFF2-40B4-BE49-F238E27FC236}">
                <a16:creationId xmlns:a16="http://schemas.microsoft.com/office/drawing/2014/main" id="{CE2E369C-390F-7410-C5D0-D244585D0D60}"/>
              </a:ext>
            </a:extLst>
          </p:cNvPr>
          <p:cNvCxnSpPr>
            <a:cxnSpLocks/>
          </p:cNvCxnSpPr>
          <p:nvPr/>
        </p:nvCxnSpPr>
        <p:spPr>
          <a:xfrm>
            <a:off x="1691640" y="4544568"/>
            <a:ext cx="1975104" cy="85953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42691B5-1F5A-51CF-651D-B6B72DC39CBB}"/>
              </a:ext>
            </a:extLst>
          </p:cNvPr>
          <p:cNvCxnSpPr>
            <a:cxnSpLocks/>
          </p:cNvCxnSpPr>
          <p:nvPr/>
        </p:nvCxnSpPr>
        <p:spPr>
          <a:xfrm flipV="1">
            <a:off x="3776377" y="4389120"/>
            <a:ext cx="1097375" cy="941832"/>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6BC5431-4A25-786C-254B-5089AD875237}"/>
              </a:ext>
            </a:extLst>
          </p:cNvPr>
          <p:cNvCxnSpPr>
            <a:cxnSpLocks/>
          </p:cNvCxnSpPr>
          <p:nvPr/>
        </p:nvCxnSpPr>
        <p:spPr>
          <a:xfrm>
            <a:off x="4983290" y="4453128"/>
            <a:ext cx="2684571" cy="106984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58CDEF30-8315-EA9F-825C-64EC55164F12}"/>
              </a:ext>
            </a:extLst>
          </p:cNvPr>
          <p:cNvSpPr/>
          <p:nvPr/>
        </p:nvSpPr>
        <p:spPr>
          <a:xfrm>
            <a:off x="1478281" y="3488551"/>
            <a:ext cx="3331463" cy="539496"/>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B1886FC0-7FC4-4D4D-4082-8BEB3FB079DF}"/>
              </a:ext>
            </a:extLst>
          </p:cNvPr>
          <p:cNvSpPr/>
          <p:nvPr/>
        </p:nvSpPr>
        <p:spPr>
          <a:xfrm>
            <a:off x="4809744" y="2887329"/>
            <a:ext cx="3227832" cy="607961"/>
          </a:xfrm>
          <a:prstGeom prst="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530A4C4A-DE75-6977-3C0F-E4AB93F7E936}"/>
              </a:ext>
            </a:extLst>
          </p:cNvPr>
          <p:cNvSpPr/>
          <p:nvPr/>
        </p:nvSpPr>
        <p:spPr>
          <a:xfrm>
            <a:off x="1432512" y="1678215"/>
            <a:ext cx="5785103" cy="790772"/>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62DF0C1B-B434-50DB-34CA-E1640474338B}"/>
              </a:ext>
            </a:extLst>
          </p:cNvPr>
          <p:cNvSpPr/>
          <p:nvPr/>
        </p:nvSpPr>
        <p:spPr>
          <a:xfrm>
            <a:off x="6775921" y="1253308"/>
            <a:ext cx="1269301" cy="424908"/>
          </a:xfrm>
          <a:prstGeom prst="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12FD54C3-CED1-FE97-B93B-8410A2E31DB5}"/>
              </a:ext>
            </a:extLst>
          </p:cNvPr>
          <p:cNvSpPr/>
          <p:nvPr/>
        </p:nvSpPr>
        <p:spPr>
          <a:xfrm>
            <a:off x="3666744" y="4353651"/>
            <a:ext cx="1459135" cy="1297341"/>
          </a:xfrm>
          <a:prstGeom prst="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290194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B6250-4978-FDCD-0329-CEF490A034FC}"/>
            </a:ext>
          </a:extLst>
        </p:cNvPr>
        <p:cNvGrpSpPr/>
        <p:nvPr/>
      </p:nvGrpSpPr>
      <p:grpSpPr>
        <a:xfrm>
          <a:off x="0" y="0"/>
          <a:ext cx="0" cy="0"/>
          <a:chOff x="0" y="0"/>
          <a:chExt cx="0" cy="0"/>
        </a:xfrm>
      </p:grpSpPr>
      <p:pic>
        <p:nvPicPr>
          <p:cNvPr id="6" name="Picture 5" descr="A graph of different colored lines&#10;&#10;AI-generated content may be incorrect.">
            <a:extLst>
              <a:ext uri="{FF2B5EF4-FFF2-40B4-BE49-F238E27FC236}">
                <a16:creationId xmlns:a16="http://schemas.microsoft.com/office/drawing/2014/main" id="{F30D5B22-EB47-AABC-B41F-B5110EC58B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812" y="749192"/>
            <a:ext cx="7386637" cy="5051533"/>
          </a:xfrm>
          <a:prstGeom prst="rect">
            <a:avLst/>
          </a:prstGeom>
        </p:spPr>
      </p:pic>
      <p:sp>
        <p:nvSpPr>
          <p:cNvPr id="4" name="TextBox 3">
            <a:extLst>
              <a:ext uri="{FF2B5EF4-FFF2-40B4-BE49-F238E27FC236}">
                <a16:creationId xmlns:a16="http://schemas.microsoft.com/office/drawing/2014/main" id="{4E8D7AF4-ADBC-69C8-B90A-7E1A79346B4D}"/>
              </a:ext>
            </a:extLst>
          </p:cNvPr>
          <p:cNvSpPr txBox="1"/>
          <p:nvPr/>
        </p:nvSpPr>
        <p:spPr>
          <a:xfrm>
            <a:off x="8418259" y="566678"/>
            <a:ext cx="3694015" cy="5909310"/>
          </a:xfrm>
          <a:prstGeom prst="rect">
            <a:avLst/>
          </a:prstGeom>
          <a:noFill/>
        </p:spPr>
        <p:txBody>
          <a:bodyPr wrap="square" rtlCol="0">
            <a:spAutoFit/>
          </a:bodyPr>
          <a:lstStyle/>
          <a:p>
            <a:r>
              <a:rPr lang="en-IN" dirty="0"/>
              <a:t>Data patterns:-</a:t>
            </a:r>
          </a:p>
          <a:p>
            <a:endParaRPr lang="en-IN" dirty="0"/>
          </a:p>
          <a:p>
            <a:r>
              <a:rPr lang="en-IN" dirty="0"/>
              <a:t>In February  mostly touch 10 and then goes down and goes up and behave moderate</a:t>
            </a:r>
          </a:p>
          <a:p>
            <a:endParaRPr lang="en-IN" dirty="0"/>
          </a:p>
          <a:p>
            <a:r>
              <a:rPr lang="en-IN" dirty="0"/>
              <a:t>But in march starting with lowest point and heating 10 and this one goes down and continuous pattern immerge but after 20 days value break pattern and hit highest point but after 708 days value behave continuous pattern</a:t>
            </a:r>
          </a:p>
          <a:p>
            <a:endParaRPr lang="en-IN" dirty="0"/>
          </a:p>
          <a:p>
            <a:r>
              <a:rPr lang="en-IN" dirty="0"/>
              <a:t>In April month mostly value behave 4 to 10</a:t>
            </a:r>
          </a:p>
          <a:p>
            <a:endParaRPr lang="en-IN" dirty="0"/>
          </a:p>
          <a:p>
            <a:endParaRPr lang="en-IN" dirty="0"/>
          </a:p>
          <a:p>
            <a:endParaRPr lang="en-IN" dirty="0"/>
          </a:p>
          <a:p>
            <a:endParaRPr lang="en-IN" dirty="0"/>
          </a:p>
          <a:p>
            <a:endParaRPr lang="en-IN" dirty="0"/>
          </a:p>
        </p:txBody>
      </p:sp>
      <p:sp>
        <p:nvSpPr>
          <p:cNvPr id="3" name="TextBox 2">
            <a:extLst>
              <a:ext uri="{FF2B5EF4-FFF2-40B4-BE49-F238E27FC236}">
                <a16:creationId xmlns:a16="http://schemas.microsoft.com/office/drawing/2014/main" id="{AD61662C-7648-25AF-2318-64CCC6164638}"/>
              </a:ext>
            </a:extLst>
          </p:cNvPr>
          <p:cNvSpPr txBox="1"/>
          <p:nvPr/>
        </p:nvSpPr>
        <p:spPr>
          <a:xfrm>
            <a:off x="301733" y="113633"/>
            <a:ext cx="550016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u="sng" dirty="0"/>
              <a:t>Store 86- (trail store) Performance </a:t>
            </a:r>
          </a:p>
        </p:txBody>
      </p:sp>
      <p:cxnSp>
        <p:nvCxnSpPr>
          <p:cNvPr id="8" name="Straight Connector 7">
            <a:extLst>
              <a:ext uri="{FF2B5EF4-FFF2-40B4-BE49-F238E27FC236}">
                <a16:creationId xmlns:a16="http://schemas.microsoft.com/office/drawing/2014/main" id="{179DD087-ECEF-9966-37CB-513A553111FC}"/>
              </a:ext>
            </a:extLst>
          </p:cNvPr>
          <p:cNvCxnSpPr>
            <a:cxnSpLocks/>
          </p:cNvCxnSpPr>
          <p:nvPr/>
        </p:nvCxnSpPr>
        <p:spPr>
          <a:xfrm>
            <a:off x="1761126" y="3198794"/>
            <a:ext cx="3451477" cy="15074"/>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DFACDB5A-6001-CF7B-9078-523899DC6876}"/>
              </a:ext>
            </a:extLst>
          </p:cNvPr>
          <p:cNvCxnSpPr>
            <a:cxnSpLocks/>
          </p:cNvCxnSpPr>
          <p:nvPr/>
        </p:nvCxnSpPr>
        <p:spPr>
          <a:xfrm>
            <a:off x="1223014" y="3846576"/>
            <a:ext cx="4107938"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C5A79EBA-5916-D1CF-98C3-087BEC2FD11C}"/>
              </a:ext>
            </a:extLst>
          </p:cNvPr>
          <p:cNvCxnSpPr>
            <a:cxnSpLocks/>
          </p:cNvCxnSpPr>
          <p:nvPr/>
        </p:nvCxnSpPr>
        <p:spPr>
          <a:xfrm flipV="1">
            <a:off x="1375414" y="3191256"/>
            <a:ext cx="581402" cy="655320"/>
          </a:xfrm>
          <a:prstGeom prst="line">
            <a:avLst/>
          </a:prstGeom>
          <a:ln w="28575">
            <a:solidFill>
              <a:srgbClr val="00B050"/>
            </a:solidFill>
            <a:prstDash val="solid"/>
          </a:ln>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58083C90-ABD5-3509-9B42-062C4CD66A58}"/>
              </a:ext>
            </a:extLst>
          </p:cNvPr>
          <p:cNvCxnSpPr>
            <a:cxnSpLocks/>
          </p:cNvCxnSpPr>
          <p:nvPr/>
        </p:nvCxnSpPr>
        <p:spPr>
          <a:xfrm flipH="1" flipV="1">
            <a:off x="1956816" y="3191255"/>
            <a:ext cx="589602" cy="655321"/>
          </a:xfrm>
          <a:prstGeom prst="line">
            <a:avLst/>
          </a:prstGeom>
          <a:ln w="28575">
            <a:solidFill>
              <a:srgbClr val="00B050"/>
            </a:solidFill>
            <a:prstDash val="solid"/>
          </a:ln>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20B79023-DCB0-1791-9D5A-220F4504782E}"/>
              </a:ext>
            </a:extLst>
          </p:cNvPr>
          <p:cNvCxnSpPr>
            <a:cxnSpLocks/>
          </p:cNvCxnSpPr>
          <p:nvPr/>
        </p:nvCxnSpPr>
        <p:spPr>
          <a:xfrm flipV="1">
            <a:off x="2569415" y="3191255"/>
            <a:ext cx="859585" cy="716201"/>
          </a:xfrm>
          <a:prstGeom prst="line">
            <a:avLst/>
          </a:prstGeom>
          <a:ln w="28575">
            <a:solidFill>
              <a:srgbClr val="00B050"/>
            </a:solidFill>
            <a:prstDash val="solid"/>
          </a:ln>
        </p:spPr>
        <p:style>
          <a:lnRef idx="1">
            <a:schemeClr val="accent2"/>
          </a:lnRef>
          <a:fillRef idx="0">
            <a:schemeClr val="accent2"/>
          </a:fillRef>
          <a:effectRef idx="0">
            <a:schemeClr val="accent2"/>
          </a:effectRef>
          <a:fontRef idx="minor">
            <a:schemeClr val="tx1"/>
          </a:fontRef>
        </p:style>
      </p:cxnSp>
      <p:cxnSp>
        <p:nvCxnSpPr>
          <p:cNvPr id="25" name="Straight Connector 24">
            <a:extLst>
              <a:ext uri="{FF2B5EF4-FFF2-40B4-BE49-F238E27FC236}">
                <a16:creationId xmlns:a16="http://schemas.microsoft.com/office/drawing/2014/main" id="{7FE8D1CF-7480-854E-A72A-A4511A9A9126}"/>
              </a:ext>
            </a:extLst>
          </p:cNvPr>
          <p:cNvCxnSpPr>
            <a:cxnSpLocks/>
          </p:cNvCxnSpPr>
          <p:nvPr/>
        </p:nvCxnSpPr>
        <p:spPr>
          <a:xfrm flipH="1" flipV="1">
            <a:off x="3451997" y="3191254"/>
            <a:ext cx="440822" cy="710515"/>
          </a:xfrm>
          <a:prstGeom prst="line">
            <a:avLst/>
          </a:prstGeom>
          <a:ln w="28575">
            <a:solidFill>
              <a:srgbClr val="00B050"/>
            </a:solidFill>
            <a:prstDash val="solid"/>
          </a:ln>
        </p:spPr>
        <p:style>
          <a:lnRef idx="1">
            <a:schemeClr val="accent2"/>
          </a:lnRef>
          <a:fillRef idx="0">
            <a:schemeClr val="accent2"/>
          </a:fillRef>
          <a:effectRef idx="0">
            <a:schemeClr val="accent2"/>
          </a:effectRef>
          <a:fontRef idx="minor">
            <a:schemeClr val="tx1"/>
          </a:fontRef>
        </p:style>
      </p:cxnSp>
      <p:cxnSp>
        <p:nvCxnSpPr>
          <p:cNvPr id="29" name="Straight Connector 28">
            <a:extLst>
              <a:ext uri="{FF2B5EF4-FFF2-40B4-BE49-F238E27FC236}">
                <a16:creationId xmlns:a16="http://schemas.microsoft.com/office/drawing/2014/main" id="{2187CC79-B07D-91C8-9FB0-3DBB13885AC8}"/>
              </a:ext>
            </a:extLst>
          </p:cNvPr>
          <p:cNvCxnSpPr>
            <a:cxnSpLocks/>
          </p:cNvCxnSpPr>
          <p:nvPr/>
        </p:nvCxnSpPr>
        <p:spPr>
          <a:xfrm flipV="1">
            <a:off x="3892819" y="3206332"/>
            <a:ext cx="344711" cy="640244"/>
          </a:xfrm>
          <a:prstGeom prst="line">
            <a:avLst/>
          </a:prstGeom>
          <a:ln w="28575">
            <a:solidFill>
              <a:srgbClr val="00B050"/>
            </a:solidFill>
            <a:prstDash val="solid"/>
          </a:ln>
        </p:spPr>
        <p:style>
          <a:lnRef idx="1">
            <a:schemeClr val="accent2"/>
          </a:lnRef>
          <a:fillRef idx="0">
            <a:schemeClr val="accent2"/>
          </a:fillRef>
          <a:effectRef idx="0">
            <a:schemeClr val="accent2"/>
          </a:effectRef>
          <a:fontRef idx="minor">
            <a:schemeClr val="tx1"/>
          </a:fontRef>
        </p:style>
      </p:cxnSp>
      <p:cxnSp>
        <p:nvCxnSpPr>
          <p:cNvPr id="33" name="Straight Connector 32">
            <a:extLst>
              <a:ext uri="{FF2B5EF4-FFF2-40B4-BE49-F238E27FC236}">
                <a16:creationId xmlns:a16="http://schemas.microsoft.com/office/drawing/2014/main" id="{85FFC6C9-B162-E811-515F-03205823D370}"/>
              </a:ext>
            </a:extLst>
          </p:cNvPr>
          <p:cNvCxnSpPr>
            <a:cxnSpLocks/>
          </p:cNvCxnSpPr>
          <p:nvPr/>
        </p:nvCxnSpPr>
        <p:spPr>
          <a:xfrm flipH="1" flipV="1">
            <a:off x="4274912" y="3206332"/>
            <a:ext cx="1079037" cy="695437"/>
          </a:xfrm>
          <a:prstGeom prst="line">
            <a:avLst/>
          </a:prstGeom>
          <a:ln w="28575">
            <a:solidFill>
              <a:srgbClr val="00B050"/>
            </a:solidFill>
            <a:prstDash val="solid"/>
          </a:ln>
        </p:spPr>
        <p:style>
          <a:lnRef idx="1">
            <a:schemeClr val="accent2"/>
          </a:lnRef>
          <a:fillRef idx="0">
            <a:schemeClr val="accent2"/>
          </a:fillRef>
          <a:effectRef idx="0">
            <a:schemeClr val="accent2"/>
          </a:effectRef>
          <a:fontRef idx="minor">
            <a:schemeClr val="tx1"/>
          </a:fontRef>
        </p:style>
      </p:cxnSp>
      <p:cxnSp>
        <p:nvCxnSpPr>
          <p:cNvPr id="39" name="Straight Connector 38">
            <a:extLst>
              <a:ext uri="{FF2B5EF4-FFF2-40B4-BE49-F238E27FC236}">
                <a16:creationId xmlns:a16="http://schemas.microsoft.com/office/drawing/2014/main" id="{FAFEA5D7-2EBF-0B2E-A0E0-103F967BF96B}"/>
              </a:ext>
            </a:extLst>
          </p:cNvPr>
          <p:cNvCxnSpPr>
            <a:cxnSpLocks/>
          </p:cNvCxnSpPr>
          <p:nvPr/>
        </p:nvCxnSpPr>
        <p:spPr>
          <a:xfrm>
            <a:off x="6707783" y="2927484"/>
            <a:ext cx="1119481" cy="0"/>
          </a:xfrm>
          <a:prstGeom prst="line">
            <a:avLst/>
          </a:prstGeom>
          <a:ln w="28575">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43" name="Straight Connector 42">
            <a:extLst>
              <a:ext uri="{FF2B5EF4-FFF2-40B4-BE49-F238E27FC236}">
                <a16:creationId xmlns:a16="http://schemas.microsoft.com/office/drawing/2014/main" id="{B1291D52-DEFE-C551-CBC7-A3F8E06E18A0}"/>
              </a:ext>
            </a:extLst>
          </p:cNvPr>
          <p:cNvCxnSpPr>
            <a:cxnSpLocks/>
          </p:cNvCxnSpPr>
          <p:nvPr/>
        </p:nvCxnSpPr>
        <p:spPr>
          <a:xfrm>
            <a:off x="6406896" y="3637668"/>
            <a:ext cx="1517904" cy="0"/>
          </a:xfrm>
          <a:prstGeom prst="line">
            <a:avLst/>
          </a:prstGeom>
          <a:ln w="28575">
            <a:solidFill>
              <a:schemeClr val="accent5"/>
            </a:solidFill>
          </a:ln>
        </p:spPr>
        <p:style>
          <a:lnRef idx="1">
            <a:schemeClr val="accent2"/>
          </a:lnRef>
          <a:fillRef idx="0">
            <a:schemeClr val="accent2"/>
          </a:fillRef>
          <a:effectRef idx="0">
            <a:schemeClr val="accent2"/>
          </a:effectRef>
          <a:fontRef idx="minor">
            <a:schemeClr val="tx1"/>
          </a:fontRef>
        </p:style>
      </p:cxnSp>
      <p:sp>
        <p:nvSpPr>
          <p:cNvPr id="44" name="Rectangle 43">
            <a:extLst>
              <a:ext uri="{FF2B5EF4-FFF2-40B4-BE49-F238E27FC236}">
                <a16:creationId xmlns:a16="http://schemas.microsoft.com/office/drawing/2014/main" id="{9B426997-E98D-8086-2549-235E00620B93}"/>
              </a:ext>
            </a:extLst>
          </p:cNvPr>
          <p:cNvSpPr/>
          <p:nvPr/>
        </p:nvSpPr>
        <p:spPr>
          <a:xfrm>
            <a:off x="5212603" y="2660908"/>
            <a:ext cx="1495180" cy="1609328"/>
          </a:xfrm>
          <a:prstGeom prst="rect">
            <a:avLst/>
          </a:prstGeom>
          <a:noFill/>
          <a:ln>
            <a:solidFill>
              <a:schemeClr val="tx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000080"/>
              </a:highlight>
            </a:endParaRPr>
          </a:p>
        </p:txBody>
      </p:sp>
    </p:spTree>
    <p:extLst>
      <p:ext uri="{BB962C8B-B14F-4D97-AF65-F5344CB8AC3E}">
        <p14:creationId xmlns:p14="http://schemas.microsoft.com/office/powerpoint/2010/main" val="3229477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BE7BB-41F0-62DE-6E57-CA3DF758390B}"/>
            </a:ext>
          </a:extLst>
        </p:cNvPr>
        <p:cNvGrpSpPr/>
        <p:nvPr/>
      </p:nvGrpSpPr>
      <p:grpSpPr>
        <a:xfrm>
          <a:off x="0" y="0"/>
          <a:ext cx="0" cy="0"/>
          <a:chOff x="0" y="0"/>
          <a:chExt cx="0" cy="0"/>
        </a:xfrm>
      </p:grpSpPr>
      <p:pic>
        <p:nvPicPr>
          <p:cNvPr id="4" name="Picture 3" descr="A graph of different colored lines&#10;&#10;AI-generated content may be incorrect.">
            <a:extLst>
              <a:ext uri="{FF2B5EF4-FFF2-40B4-BE49-F238E27FC236}">
                <a16:creationId xmlns:a16="http://schemas.microsoft.com/office/drawing/2014/main" id="{8357C3BD-86AC-840C-976A-A4DAE1F0AE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735196"/>
            <a:ext cx="6405498" cy="5387608"/>
          </a:xfrm>
          <a:prstGeom prst="rect">
            <a:avLst/>
          </a:prstGeom>
        </p:spPr>
      </p:pic>
      <p:sp>
        <p:nvSpPr>
          <p:cNvPr id="5" name="TextBox 4">
            <a:extLst>
              <a:ext uri="{FF2B5EF4-FFF2-40B4-BE49-F238E27FC236}">
                <a16:creationId xmlns:a16="http://schemas.microsoft.com/office/drawing/2014/main" id="{F7036D22-7179-C47F-F141-0680A220BF7B}"/>
              </a:ext>
            </a:extLst>
          </p:cNvPr>
          <p:cNvSpPr txBox="1"/>
          <p:nvPr/>
        </p:nvSpPr>
        <p:spPr>
          <a:xfrm>
            <a:off x="8081077" y="440515"/>
            <a:ext cx="3694015" cy="5909310"/>
          </a:xfrm>
          <a:prstGeom prst="rect">
            <a:avLst/>
          </a:prstGeom>
          <a:noFill/>
        </p:spPr>
        <p:txBody>
          <a:bodyPr wrap="square" rtlCol="0">
            <a:spAutoFit/>
          </a:bodyPr>
          <a:lstStyle/>
          <a:p>
            <a:r>
              <a:rPr lang="en-IN" dirty="0"/>
              <a:t>Data patterns:-</a:t>
            </a:r>
          </a:p>
          <a:p>
            <a:endParaRPr lang="en-IN" dirty="0"/>
          </a:p>
          <a:p>
            <a:r>
              <a:rPr lang="en-IN" dirty="0"/>
              <a:t>In  February starting with lowest point  and hitting highest point </a:t>
            </a:r>
          </a:p>
          <a:p>
            <a:r>
              <a:rPr lang="en-IN" dirty="0"/>
              <a:t>And this pattern behave same</a:t>
            </a:r>
          </a:p>
          <a:p>
            <a:endParaRPr lang="en-IN" dirty="0"/>
          </a:p>
          <a:p>
            <a:endParaRPr lang="en-IN" dirty="0"/>
          </a:p>
          <a:p>
            <a:r>
              <a:rPr lang="en-IN" dirty="0"/>
              <a:t>In March 3</a:t>
            </a:r>
            <a:r>
              <a:rPr lang="en-IN" baseline="30000" dirty="0"/>
              <a:t>rd</a:t>
            </a:r>
            <a:r>
              <a:rPr lang="en-IN" dirty="0"/>
              <a:t> time hitting most sales value and data move 7 to 11 between</a:t>
            </a:r>
          </a:p>
          <a:p>
            <a:endParaRPr lang="en-IN" dirty="0"/>
          </a:p>
          <a:p>
            <a:r>
              <a:rPr lang="en-IN" dirty="0"/>
              <a:t>But in April sales mostly hitting 11 there short peaks immerge but suddenly goes down but after 20 heating the highest time and stay some time then goes down and then again goes up and after pattern behave normal before 20.</a:t>
            </a:r>
          </a:p>
          <a:p>
            <a:endParaRPr lang="en-IN" dirty="0"/>
          </a:p>
          <a:p>
            <a:r>
              <a:rPr lang="en-IN" dirty="0"/>
              <a:t>And the short time pattern very different compare to normal data points and patterns.</a:t>
            </a:r>
          </a:p>
        </p:txBody>
      </p:sp>
      <p:sp>
        <p:nvSpPr>
          <p:cNvPr id="2" name="TextBox 1">
            <a:extLst>
              <a:ext uri="{FF2B5EF4-FFF2-40B4-BE49-F238E27FC236}">
                <a16:creationId xmlns:a16="http://schemas.microsoft.com/office/drawing/2014/main" id="{29753066-1BA6-8592-36A1-7137BD2AE138}"/>
              </a:ext>
            </a:extLst>
          </p:cNvPr>
          <p:cNvSpPr txBox="1"/>
          <p:nvPr/>
        </p:nvSpPr>
        <p:spPr>
          <a:xfrm>
            <a:off x="434294" y="190489"/>
            <a:ext cx="5500162"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u="sng" dirty="0"/>
              <a:t>Store 88- (trail store) Performance </a:t>
            </a:r>
          </a:p>
        </p:txBody>
      </p:sp>
      <p:cxnSp>
        <p:nvCxnSpPr>
          <p:cNvPr id="6" name="Straight Connector 5">
            <a:extLst>
              <a:ext uri="{FF2B5EF4-FFF2-40B4-BE49-F238E27FC236}">
                <a16:creationId xmlns:a16="http://schemas.microsoft.com/office/drawing/2014/main" id="{DDB52A32-38BE-4C2A-1D14-1660EAA068A7}"/>
              </a:ext>
            </a:extLst>
          </p:cNvPr>
          <p:cNvCxnSpPr>
            <a:cxnSpLocks/>
          </p:cNvCxnSpPr>
          <p:nvPr/>
        </p:nvCxnSpPr>
        <p:spPr>
          <a:xfrm>
            <a:off x="5903976" y="190489"/>
            <a:ext cx="676656" cy="457200"/>
          </a:xfrm>
          <a:prstGeom prst="line">
            <a:avLst/>
          </a:prstGeom>
          <a:ln w="28575"/>
        </p:spPr>
        <p:style>
          <a:lnRef idx="1">
            <a:schemeClr val="accent5"/>
          </a:lnRef>
          <a:fillRef idx="0">
            <a:schemeClr val="accent5"/>
          </a:fillRef>
          <a:effectRef idx="0">
            <a:schemeClr val="accent5"/>
          </a:effectRef>
          <a:fontRef idx="minor">
            <a:schemeClr val="tx1"/>
          </a:fontRef>
        </p:style>
      </p:cxnSp>
      <p:sp>
        <p:nvSpPr>
          <p:cNvPr id="25" name="Rectangle 24">
            <a:extLst>
              <a:ext uri="{FF2B5EF4-FFF2-40B4-BE49-F238E27FC236}">
                <a16:creationId xmlns:a16="http://schemas.microsoft.com/office/drawing/2014/main" id="{0D41DFCE-228C-F9F2-AF5A-F7D4085D15D2}"/>
              </a:ext>
            </a:extLst>
          </p:cNvPr>
          <p:cNvSpPr/>
          <p:nvPr/>
        </p:nvSpPr>
        <p:spPr>
          <a:xfrm>
            <a:off x="1658504" y="3177792"/>
            <a:ext cx="1447015" cy="633984"/>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26" name="Rectangle 25">
            <a:extLst>
              <a:ext uri="{FF2B5EF4-FFF2-40B4-BE49-F238E27FC236}">
                <a16:creationId xmlns:a16="http://schemas.microsoft.com/office/drawing/2014/main" id="{CC76E282-1DE0-DD32-0E77-59055F484169}"/>
              </a:ext>
            </a:extLst>
          </p:cNvPr>
          <p:cNvSpPr/>
          <p:nvPr/>
        </p:nvSpPr>
        <p:spPr>
          <a:xfrm>
            <a:off x="3246120" y="2807208"/>
            <a:ext cx="3968496" cy="1249680"/>
          </a:xfrm>
          <a:prstGeom prst="rect">
            <a:avLst/>
          </a:prstGeom>
          <a:no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E3FA32AB-4491-BFD3-D412-F02E8DA029F3}"/>
              </a:ext>
            </a:extLst>
          </p:cNvPr>
          <p:cNvSpPr/>
          <p:nvPr/>
        </p:nvSpPr>
        <p:spPr>
          <a:xfrm>
            <a:off x="3621023" y="3158232"/>
            <a:ext cx="3456433" cy="754128"/>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33" name="Rectangle 32">
            <a:extLst>
              <a:ext uri="{FF2B5EF4-FFF2-40B4-BE49-F238E27FC236}">
                <a16:creationId xmlns:a16="http://schemas.microsoft.com/office/drawing/2014/main" id="{274FDD01-BB76-466C-327F-BB5FAC7BF509}"/>
              </a:ext>
            </a:extLst>
          </p:cNvPr>
          <p:cNvSpPr/>
          <p:nvPr/>
        </p:nvSpPr>
        <p:spPr>
          <a:xfrm>
            <a:off x="5513833" y="4416670"/>
            <a:ext cx="1066800" cy="1627514"/>
          </a:xfrm>
          <a:prstGeom prst="rect">
            <a:avLst/>
          </a:prstGeom>
          <a:noFill/>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36" name="Straight Connector 35">
            <a:extLst>
              <a:ext uri="{FF2B5EF4-FFF2-40B4-BE49-F238E27FC236}">
                <a16:creationId xmlns:a16="http://schemas.microsoft.com/office/drawing/2014/main" id="{E0DEE68D-72F1-B670-9101-F74DA89EF771}"/>
              </a:ext>
            </a:extLst>
          </p:cNvPr>
          <p:cNvCxnSpPr>
            <a:cxnSpLocks/>
          </p:cNvCxnSpPr>
          <p:nvPr/>
        </p:nvCxnSpPr>
        <p:spPr>
          <a:xfrm>
            <a:off x="1645920" y="4855464"/>
            <a:ext cx="3785616"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39" name="Straight Connector 38">
            <a:extLst>
              <a:ext uri="{FF2B5EF4-FFF2-40B4-BE49-F238E27FC236}">
                <a16:creationId xmlns:a16="http://schemas.microsoft.com/office/drawing/2014/main" id="{5F182994-89F6-C717-B889-E9C939934BFB}"/>
              </a:ext>
            </a:extLst>
          </p:cNvPr>
          <p:cNvCxnSpPr>
            <a:cxnSpLocks/>
          </p:cNvCxnSpPr>
          <p:nvPr/>
        </p:nvCxnSpPr>
        <p:spPr>
          <a:xfrm>
            <a:off x="6651565" y="4855464"/>
            <a:ext cx="672779"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027652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67D3C-05F8-7CD0-5939-2ACE9FB1FB4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B25977B-6739-D856-504A-E4227F0A2BAA}"/>
              </a:ext>
            </a:extLst>
          </p:cNvPr>
          <p:cNvSpPr>
            <a:spLocks noGrp="1"/>
          </p:cNvSpPr>
          <p:nvPr>
            <p:ph type="subTitle" idx="1"/>
          </p:nvPr>
        </p:nvSpPr>
        <p:spPr>
          <a:xfrm>
            <a:off x="457200" y="190489"/>
            <a:ext cx="11530584" cy="6300216"/>
          </a:xfrm>
        </p:spPr>
        <p:txBody>
          <a:bodyPr/>
          <a:lstStyle/>
          <a:p>
            <a:pPr algn="l"/>
            <a:endParaRPr lang="en-IN" dirty="0"/>
          </a:p>
          <a:p>
            <a:pPr algn="l"/>
            <a:endParaRPr lang="en-IN" dirty="0"/>
          </a:p>
        </p:txBody>
      </p:sp>
      <p:pic>
        <p:nvPicPr>
          <p:cNvPr id="4" name="Picture 3" descr="A graph of sales&#10;&#10;AI-generated content may be incorrect.">
            <a:extLst>
              <a:ext uri="{FF2B5EF4-FFF2-40B4-BE49-F238E27FC236}">
                <a16:creationId xmlns:a16="http://schemas.microsoft.com/office/drawing/2014/main" id="{B3B465C3-F422-B544-0E92-6297672194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208" y="790421"/>
            <a:ext cx="7415205" cy="5645848"/>
          </a:xfrm>
          <a:prstGeom prst="rect">
            <a:avLst/>
          </a:prstGeom>
        </p:spPr>
      </p:pic>
      <p:sp>
        <p:nvSpPr>
          <p:cNvPr id="7" name="TextBox 6">
            <a:extLst>
              <a:ext uri="{FF2B5EF4-FFF2-40B4-BE49-F238E27FC236}">
                <a16:creationId xmlns:a16="http://schemas.microsoft.com/office/drawing/2014/main" id="{F223D921-6D16-2E6D-3BDA-EA37B4AA79C4}"/>
              </a:ext>
            </a:extLst>
          </p:cNvPr>
          <p:cNvSpPr txBox="1"/>
          <p:nvPr/>
        </p:nvSpPr>
        <p:spPr>
          <a:xfrm>
            <a:off x="8293769" y="590425"/>
            <a:ext cx="3694015" cy="5632311"/>
          </a:xfrm>
          <a:prstGeom prst="rect">
            <a:avLst/>
          </a:prstGeom>
          <a:noFill/>
        </p:spPr>
        <p:txBody>
          <a:bodyPr wrap="square" rtlCol="0">
            <a:spAutoFit/>
          </a:bodyPr>
          <a:lstStyle/>
          <a:p>
            <a:r>
              <a:rPr lang="en-IN" dirty="0"/>
              <a:t>Data patterns: -</a:t>
            </a:r>
          </a:p>
          <a:p>
            <a:endParaRPr lang="en-IN" dirty="0"/>
          </a:p>
          <a:p>
            <a:r>
              <a:rPr lang="en-IN" dirty="0"/>
              <a:t>In store 77 there 3 times sales hits highest peak and overall pattern behave same.</a:t>
            </a:r>
          </a:p>
          <a:p>
            <a:endParaRPr lang="en-IN" dirty="0"/>
          </a:p>
          <a:p>
            <a:r>
              <a:rPr lang="en-IN" dirty="0"/>
              <a:t>In store 88 starting sales is hight but quite some time sales goes down but not overall bad but after 10 or 20 days sales has increase </a:t>
            </a:r>
          </a:p>
          <a:p>
            <a:endParaRPr lang="en-IN" dirty="0"/>
          </a:p>
          <a:p>
            <a:r>
              <a:rPr lang="en-IN" dirty="0"/>
              <a:t>In store 88 march to April sales hit highest peaks 5 times in one month period.</a:t>
            </a:r>
          </a:p>
          <a:p>
            <a:endParaRPr lang="en-IN" dirty="0"/>
          </a:p>
          <a:p>
            <a:r>
              <a:rPr lang="en-IN" dirty="0"/>
              <a:t>Overall store 88 sales pattern don’t have major changes value between moving 7 to 11.</a:t>
            </a:r>
          </a:p>
          <a:p>
            <a:endParaRPr lang="en-IN" dirty="0"/>
          </a:p>
          <a:p>
            <a:endParaRPr lang="en-IN" dirty="0"/>
          </a:p>
        </p:txBody>
      </p:sp>
      <p:sp>
        <p:nvSpPr>
          <p:cNvPr id="2" name="TextBox 1">
            <a:extLst>
              <a:ext uri="{FF2B5EF4-FFF2-40B4-BE49-F238E27FC236}">
                <a16:creationId xmlns:a16="http://schemas.microsoft.com/office/drawing/2014/main" id="{AFA430EC-0F9B-87CD-192A-0C75938E8B8E}"/>
              </a:ext>
            </a:extLst>
          </p:cNvPr>
          <p:cNvSpPr txBox="1"/>
          <p:nvPr/>
        </p:nvSpPr>
        <p:spPr>
          <a:xfrm>
            <a:off x="434294" y="190489"/>
            <a:ext cx="5966506"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u="sng" dirty="0"/>
              <a:t>Store 77,86,88- (trail store) Performance </a:t>
            </a:r>
          </a:p>
        </p:txBody>
      </p:sp>
      <p:sp>
        <p:nvSpPr>
          <p:cNvPr id="12" name="Rectangle 11">
            <a:extLst>
              <a:ext uri="{FF2B5EF4-FFF2-40B4-BE49-F238E27FC236}">
                <a16:creationId xmlns:a16="http://schemas.microsoft.com/office/drawing/2014/main" id="{E4E2D383-7134-01AD-9082-BC9657168BD1}"/>
              </a:ext>
            </a:extLst>
          </p:cNvPr>
          <p:cNvSpPr/>
          <p:nvPr/>
        </p:nvSpPr>
        <p:spPr>
          <a:xfrm>
            <a:off x="1071172" y="1664208"/>
            <a:ext cx="6501384" cy="794421"/>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14" name="Rectangle 13">
            <a:extLst>
              <a:ext uri="{FF2B5EF4-FFF2-40B4-BE49-F238E27FC236}">
                <a16:creationId xmlns:a16="http://schemas.microsoft.com/office/drawing/2014/main" id="{57B6742F-5478-3D40-07CD-825D785CCA1A}"/>
              </a:ext>
            </a:extLst>
          </p:cNvPr>
          <p:cNvSpPr/>
          <p:nvPr/>
        </p:nvSpPr>
        <p:spPr>
          <a:xfrm>
            <a:off x="2834640" y="1168255"/>
            <a:ext cx="347472" cy="495953"/>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15" name="Rectangle 14">
            <a:extLst>
              <a:ext uri="{FF2B5EF4-FFF2-40B4-BE49-F238E27FC236}">
                <a16:creationId xmlns:a16="http://schemas.microsoft.com/office/drawing/2014/main" id="{965F5E59-D67D-BAD2-056C-E7118A59B92F}"/>
              </a:ext>
            </a:extLst>
          </p:cNvPr>
          <p:cNvSpPr/>
          <p:nvPr/>
        </p:nvSpPr>
        <p:spPr>
          <a:xfrm>
            <a:off x="5211790" y="1168255"/>
            <a:ext cx="347472" cy="495953"/>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16" name="Rectangle 15">
            <a:extLst>
              <a:ext uri="{FF2B5EF4-FFF2-40B4-BE49-F238E27FC236}">
                <a16:creationId xmlns:a16="http://schemas.microsoft.com/office/drawing/2014/main" id="{CE8326F7-169C-5DE4-4E96-DA8A5D57782A}"/>
              </a:ext>
            </a:extLst>
          </p:cNvPr>
          <p:cNvSpPr/>
          <p:nvPr/>
        </p:nvSpPr>
        <p:spPr>
          <a:xfrm>
            <a:off x="6459004" y="1168254"/>
            <a:ext cx="347472" cy="495953"/>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cxnSp>
        <p:nvCxnSpPr>
          <p:cNvPr id="20" name="Straight Connector 19">
            <a:extLst>
              <a:ext uri="{FF2B5EF4-FFF2-40B4-BE49-F238E27FC236}">
                <a16:creationId xmlns:a16="http://schemas.microsoft.com/office/drawing/2014/main" id="{E88C103F-0CB9-4CD3-4962-78CAF61C9E98}"/>
              </a:ext>
            </a:extLst>
          </p:cNvPr>
          <p:cNvCxnSpPr/>
          <p:nvPr/>
        </p:nvCxnSpPr>
        <p:spPr>
          <a:xfrm>
            <a:off x="996696" y="5074920"/>
            <a:ext cx="2624328"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62E4955-8F47-2EFF-0CA9-38B6B704D361}"/>
              </a:ext>
            </a:extLst>
          </p:cNvPr>
          <p:cNvCxnSpPr/>
          <p:nvPr/>
        </p:nvCxnSpPr>
        <p:spPr>
          <a:xfrm>
            <a:off x="996696" y="5913120"/>
            <a:ext cx="2624328"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B6FC6FE-8A6C-65AC-74EE-9B41749599D6}"/>
              </a:ext>
            </a:extLst>
          </p:cNvPr>
          <p:cNvCxnSpPr>
            <a:cxnSpLocks/>
          </p:cNvCxnSpPr>
          <p:nvPr/>
        </p:nvCxnSpPr>
        <p:spPr>
          <a:xfrm>
            <a:off x="3983736" y="5062728"/>
            <a:ext cx="62484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0A75A61-596F-6A3A-A108-951A3FCD5BCF}"/>
              </a:ext>
            </a:extLst>
          </p:cNvPr>
          <p:cNvCxnSpPr>
            <a:cxnSpLocks/>
          </p:cNvCxnSpPr>
          <p:nvPr/>
        </p:nvCxnSpPr>
        <p:spPr>
          <a:xfrm flipV="1">
            <a:off x="3983736" y="5913120"/>
            <a:ext cx="697992" cy="213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63A512-E3B6-CA13-AE28-2AC05168F080}"/>
              </a:ext>
            </a:extLst>
          </p:cNvPr>
          <p:cNvCxnSpPr>
            <a:cxnSpLocks/>
          </p:cNvCxnSpPr>
          <p:nvPr/>
        </p:nvCxnSpPr>
        <p:spPr>
          <a:xfrm>
            <a:off x="5211790" y="5062728"/>
            <a:ext cx="124721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9CF9DAE-89B1-64BE-6F9B-307502161770}"/>
              </a:ext>
            </a:extLst>
          </p:cNvPr>
          <p:cNvCxnSpPr>
            <a:cxnSpLocks/>
          </p:cNvCxnSpPr>
          <p:nvPr/>
        </p:nvCxnSpPr>
        <p:spPr>
          <a:xfrm>
            <a:off x="5211790" y="5998464"/>
            <a:ext cx="124721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A8F1517-A2CA-8F36-399A-61A528C3F043}"/>
              </a:ext>
            </a:extLst>
          </p:cNvPr>
          <p:cNvCxnSpPr>
            <a:cxnSpLocks/>
          </p:cNvCxnSpPr>
          <p:nvPr/>
        </p:nvCxnSpPr>
        <p:spPr>
          <a:xfrm>
            <a:off x="6689199" y="5062728"/>
            <a:ext cx="88335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13279AD-E6B7-F038-A76E-D1AF852B1F7D}"/>
              </a:ext>
            </a:extLst>
          </p:cNvPr>
          <p:cNvCxnSpPr>
            <a:cxnSpLocks/>
          </p:cNvCxnSpPr>
          <p:nvPr/>
        </p:nvCxnSpPr>
        <p:spPr>
          <a:xfrm>
            <a:off x="6689199" y="5934456"/>
            <a:ext cx="1247214"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F6DF76AB-FF30-1FA0-8DA3-4951FA6DB5A0}"/>
              </a:ext>
            </a:extLst>
          </p:cNvPr>
          <p:cNvSpPr/>
          <p:nvPr/>
        </p:nvSpPr>
        <p:spPr>
          <a:xfrm>
            <a:off x="3758185" y="4681727"/>
            <a:ext cx="2919562" cy="1420025"/>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36" name="Rectangle 35">
            <a:extLst>
              <a:ext uri="{FF2B5EF4-FFF2-40B4-BE49-F238E27FC236}">
                <a16:creationId xmlns:a16="http://schemas.microsoft.com/office/drawing/2014/main" id="{EEEEE1D6-B5B5-E7E6-C29F-E32989797569}"/>
              </a:ext>
            </a:extLst>
          </p:cNvPr>
          <p:cNvSpPr/>
          <p:nvPr/>
        </p:nvSpPr>
        <p:spPr>
          <a:xfrm>
            <a:off x="1071172" y="3296828"/>
            <a:ext cx="1196540" cy="1009996"/>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37" name="Rectangle 36">
            <a:extLst>
              <a:ext uri="{FF2B5EF4-FFF2-40B4-BE49-F238E27FC236}">
                <a16:creationId xmlns:a16="http://schemas.microsoft.com/office/drawing/2014/main" id="{AE54C4BE-037F-2C5B-1D8F-534F37CA492B}"/>
              </a:ext>
            </a:extLst>
          </p:cNvPr>
          <p:cNvSpPr/>
          <p:nvPr/>
        </p:nvSpPr>
        <p:spPr>
          <a:xfrm>
            <a:off x="2424484" y="3469595"/>
            <a:ext cx="1022804" cy="837228"/>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38" name="Rectangle 37">
            <a:extLst>
              <a:ext uri="{FF2B5EF4-FFF2-40B4-BE49-F238E27FC236}">
                <a16:creationId xmlns:a16="http://schemas.microsoft.com/office/drawing/2014/main" id="{B340E19F-4469-7A99-65EF-B93BC7C38ACF}"/>
              </a:ext>
            </a:extLst>
          </p:cNvPr>
          <p:cNvSpPr/>
          <p:nvPr/>
        </p:nvSpPr>
        <p:spPr>
          <a:xfrm>
            <a:off x="6270858" y="3339018"/>
            <a:ext cx="1301697" cy="929285"/>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39" name="Rectangle 38">
            <a:extLst>
              <a:ext uri="{FF2B5EF4-FFF2-40B4-BE49-F238E27FC236}">
                <a16:creationId xmlns:a16="http://schemas.microsoft.com/office/drawing/2014/main" id="{C096D2A2-66B9-DA45-FEEF-12679A5F8E55}"/>
              </a:ext>
            </a:extLst>
          </p:cNvPr>
          <p:cNvSpPr/>
          <p:nvPr/>
        </p:nvSpPr>
        <p:spPr>
          <a:xfrm>
            <a:off x="3621024" y="2954582"/>
            <a:ext cx="2474976" cy="1313722"/>
          </a:xfrm>
          <a:prstGeom prst="rect">
            <a:avLst/>
          </a:prstGeom>
          <a:solidFill>
            <a:schemeClr val="tx2">
              <a:lumMod val="9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673770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29796-9C47-4CC3-4BD1-B7402EDABCA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1090DB0-F687-F2BF-B0B5-C51ECBE9DC85}"/>
              </a:ext>
            </a:extLst>
          </p:cNvPr>
          <p:cNvSpPr>
            <a:spLocks noGrp="1"/>
          </p:cNvSpPr>
          <p:nvPr>
            <p:ph type="subTitle" idx="1"/>
          </p:nvPr>
        </p:nvSpPr>
        <p:spPr>
          <a:xfrm>
            <a:off x="457200" y="274320"/>
            <a:ext cx="11530584" cy="6300216"/>
          </a:xfrm>
        </p:spPr>
        <p:txBody>
          <a:bodyPr/>
          <a:lstStyle/>
          <a:p>
            <a:pPr algn="l"/>
            <a:endParaRPr lang="en-IN" dirty="0"/>
          </a:p>
          <a:p>
            <a:pPr algn="l"/>
            <a:endParaRPr lang="en-IN" dirty="0"/>
          </a:p>
        </p:txBody>
      </p:sp>
      <p:pic>
        <p:nvPicPr>
          <p:cNvPr id="4" name="Picture 3" descr="A graph with different colored bars&#10;&#10;AI-generated content may be incorrect.">
            <a:extLst>
              <a:ext uri="{FF2B5EF4-FFF2-40B4-BE49-F238E27FC236}">
                <a16:creationId xmlns:a16="http://schemas.microsoft.com/office/drawing/2014/main" id="{B6C1E942-C317-A5B6-2155-8120D3A825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969" y="812710"/>
            <a:ext cx="4906727" cy="2280790"/>
          </a:xfrm>
          <a:prstGeom prst="rect">
            <a:avLst/>
          </a:prstGeom>
        </p:spPr>
      </p:pic>
      <p:sp>
        <p:nvSpPr>
          <p:cNvPr id="27" name="TextBox 26">
            <a:extLst>
              <a:ext uri="{FF2B5EF4-FFF2-40B4-BE49-F238E27FC236}">
                <a16:creationId xmlns:a16="http://schemas.microsoft.com/office/drawing/2014/main" id="{D6C207A0-D394-B961-5AEF-A49637BDF9E1}"/>
              </a:ext>
            </a:extLst>
          </p:cNvPr>
          <p:cNvSpPr txBox="1"/>
          <p:nvPr/>
        </p:nvSpPr>
        <p:spPr>
          <a:xfrm>
            <a:off x="5931408" y="1041690"/>
            <a:ext cx="5260848" cy="1754326"/>
          </a:xfrm>
          <a:prstGeom prst="rect">
            <a:avLst/>
          </a:prstGeom>
          <a:noFill/>
        </p:spPr>
        <p:txBody>
          <a:bodyPr wrap="square" rtlCol="0">
            <a:spAutoFit/>
          </a:bodyPr>
          <a:lstStyle/>
          <a:p>
            <a:r>
              <a:rPr lang="en-IN" u="sng" dirty="0"/>
              <a:t>Insights:- </a:t>
            </a:r>
          </a:p>
          <a:p>
            <a:endParaRPr lang="en-IN" dirty="0"/>
          </a:p>
          <a:p>
            <a:r>
              <a:rPr lang="en-IN" dirty="0"/>
              <a:t>In march store 77 and 86 and 88 Revenue is high.</a:t>
            </a:r>
          </a:p>
          <a:p>
            <a:endParaRPr lang="en-IN" dirty="0"/>
          </a:p>
          <a:p>
            <a:r>
              <a:rPr lang="en-IN" dirty="0"/>
              <a:t>But in February trail store down compare to other months.</a:t>
            </a:r>
          </a:p>
        </p:txBody>
      </p:sp>
      <p:sp>
        <p:nvSpPr>
          <p:cNvPr id="2" name="TextBox 1">
            <a:extLst>
              <a:ext uri="{FF2B5EF4-FFF2-40B4-BE49-F238E27FC236}">
                <a16:creationId xmlns:a16="http://schemas.microsoft.com/office/drawing/2014/main" id="{F27258AE-2D13-1FD1-06D3-8554DCE8A024}"/>
              </a:ext>
            </a:extLst>
          </p:cNvPr>
          <p:cNvSpPr txBox="1"/>
          <p:nvPr/>
        </p:nvSpPr>
        <p:spPr>
          <a:xfrm>
            <a:off x="204216" y="306249"/>
            <a:ext cx="4687824" cy="369332"/>
          </a:xfrm>
          <a:prstGeom prst="rect">
            <a:avLst/>
          </a:prstGeom>
          <a:noFill/>
        </p:spPr>
        <p:txBody>
          <a:bodyPr wrap="square" rtlCol="0">
            <a:spAutoFit/>
          </a:bodyPr>
          <a:lstStyle/>
          <a:p>
            <a:pPr marL="342900" indent="-342900">
              <a:buFont typeface="Wingdings" panose="05000000000000000000" pitchFamily="2" charset="2"/>
              <a:buChar char="Ø"/>
            </a:pPr>
            <a:r>
              <a:rPr lang="en-IN" u="sng" dirty="0"/>
              <a:t>Store 77,86,88- (trail store) –Revenue ,total </a:t>
            </a:r>
          </a:p>
        </p:txBody>
      </p:sp>
      <p:pic>
        <p:nvPicPr>
          <p:cNvPr id="20" name="Picture 19" descr="A screenshot of a graph&#10;&#10;AI-generated content may be incorrect.">
            <a:extLst>
              <a:ext uri="{FF2B5EF4-FFF2-40B4-BE49-F238E27FC236}">
                <a16:creationId xmlns:a16="http://schemas.microsoft.com/office/drawing/2014/main" id="{108C7DCE-3960-8C25-1401-196D7C997A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969" y="3563385"/>
            <a:ext cx="6177743" cy="2925449"/>
          </a:xfrm>
          <a:prstGeom prst="rect">
            <a:avLst/>
          </a:prstGeom>
        </p:spPr>
      </p:pic>
      <p:sp>
        <p:nvSpPr>
          <p:cNvPr id="6" name="Rectangle 5">
            <a:extLst>
              <a:ext uri="{FF2B5EF4-FFF2-40B4-BE49-F238E27FC236}">
                <a16:creationId xmlns:a16="http://schemas.microsoft.com/office/drawing/2014/main" id="{F05C8B0E-7910-E890-559A-E4F4E76DF164}"/>
              </a:ext>
            </a:extLst>
          </p:cNvPr>
          <p:cNvSpPr/>
          <p:nvPr/>
        </p:nvSpPr>
        <p:spPr>
          <a:xfrm>
            <a:off x="938430" y="4229968"/>
            <a:ext cx="5585004" cy="630292"/>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8" name="Rectangle 7">
            <a:extLst>
              <a:ext uri="{FF2B5EF4-FFF2-40B4-BE49-F238E27FC236}">
                <a16:creationId xmlns:a16="http://schemas.microsoft.com/office/drawing/2014/main" id="{D429FE53-3B71-537B-C987-4FC0170472DA}"/>
              </a:ext>
            </a:extLst>
          </p:cNvPr>
          <p:cNvSpPr/>
          <p:nvPr/>
        </p:nvSpPr>
        <p:spPr>
          <a:xfrm>
            <a:off x="1072895" y="5388657"/>
            <a:ext cx="5450539" cy="630292"/>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9" name="TextBox 8">
            <a:extLst>
              <a:ext uri="{FF2B5EF4-FFF2-40B4-BE49-F238E27FC236}">
                <a16:creationId xmlns:a16="http://schemas.microsoft.com/office/drawing/2014/main" id="{F85282C4-E6E2-838B-EFEA-85DA639E43AC}"/>
              </a:ext>
            </a:extLst>
          </p:cNvPr>
          <p:cNvSpPr txBox="1"/>
          <p:nvPr/>
        </p:nvSpPr>
        <p:spPr>
          <a:xfrm>
            <a:off x="7086762" y="3424428"/>
            <a:ext cx="4828636" cy="2862322"/>
          </a:xfrm>
          <a:prstGeom prst="rect">
            <a:avLst/>
          </a:prstGeom>
          <a:noFill/>
        </p:spPr>
        <p:txBody>
          <a:bodyPr wrap="square" rtlCol="0">
            <a:spAutoFit/>
          </a:bodyPr>
          <a:lstStyle/>
          <a:p>
            <a:r>
              <a:rPr lang="en-IN" u="sng" dirty="0"/>
              <a:t>Store 26,171 - (Co -relation) Performance:-</a:t>
            </a:r>
          </a:p>
          <a:p>
            <a:endParaRPr lang="en-IN" u="sng" dirty="0"/>
          </a:p>
          <a:p>
            <a:r>
              <a:rPr lang="en-IN" dirty="0"/>
              <a:t>Store 26 sales between moving 7 to 10 but some the are they have braked sales</a:t>
            </a:r>
          </a:p>
          <a:p>
            <a:endParaRPr lang="en-IN" dirty="0"/>
          </a:p>
          <a:p>
            <a:r>
              <a:rPr lang="en-IN" dirty="0"/>
              <a:t>In store 177 sales goes hit lowest point time and hit and one time happened break normal pattern and touch the highest point overall store 171 moving between 7 to 11</a:t>
            </a:r>
          </a:p>
          <a:p>
            <a:pPr marL="342900" indent="-342900">
              <a:buFont typeface="Wingdings" panose="05000000000000000000" pitchFamily="2" charset="2"/>
              <a:buChar char="Ø"/>
            </a:pPr>
            <a:endParaRPr lang="en-IN" u="sng" dirty="0"/>
          </a:p>
        </p:txBody>
      </p:sp>
    </p:spTree>
    <p:extLst>
      <p:ext uri="{BB962C8B-B14F-4D97-AF65-F5344CB8AC3E}">
        <p14:creationId xmlns:p14="http://schemas.microsoft.com/office/powerpoint/2010/main" val="3728526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9151A-5BB4-733A-4439-EC0A047931B0}"/>
            </a:ext>
          </a:extLst>
        </p:cNvPr>
        <p:cNvGrpSpPr/>
        <p:nvPr/>
      </p:nvGrpSpPr>
      <p:grpSpPr>
        <a:xfrm>
          <a:off x="0" y="0"/>
          <a:ext cx="0" cy="0"/>
          <a:chOff x="0" y="0"/>
          <a:chExt cx="0" cy="0"/>
        </a:xfrm>
      </p:grpSpPr>
      <p:pic>
        <p:nvPicPr>
          <p:cNvPr id="16" name="Picture 15" descr="A graph of different colored lines&#10;&#10;AI-generated content may be incorrect.">
            <a:extLst>
              <a:ext uri="{FF2B5EF4-FFF2-40B4-BE49-F238E27FC236}">
                <a16:creationId xmlns:a16="http://schemas.microsoft.com/office/drawing/2014/main" id="{5D589DFD-436F-3614-B6E6-E76EDD5508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381" y="813816"/>
            <a:ext cx="7790688" cy="4727448"/>
          </a:xfrm>
          <a:prstGeom prst="rect">
            <a:avLst/>
          </a:prstGeom>
        </p:spPr>
      </p:pic>
      <p:sp>
        <p:nvSpPr>
          <p:cNvPr id="2" name="TextBox 1">
            <a:extLst>
              <a:ext uri="{FF2B5EF4-FFF2-40B4-BE49-F238E27FC236}">
                <a16:creationId xmlns:a16="http://schemas.microsoft.com/office/drawing/2014/main" id="{94746D17-4B42-6AB4-7674-65417882785C}"/>
              </a:ext>
            </a:extLst>
          </p:cNvPr>
          <p:cNvSpPr txBox="1"/>
          <p:nvPr/>
        </p:nvSpPr>
        <p:spPr>
          <a:xfrm>
            <a:off x="246888" y="252664"/>
            <a:ext cx="4517136" cy="400110"/>
          </a:xfrm>
          <a:prstGeom prst="rect">
            <a:avLst/>
          </a:prstGeom>
          <a:noFill/>
        </p:spPr>
        <p:txBody>
          <a:bodyPr wrap="square" rtlCol="0">
            <a:spAutoFit/>
          </a:bodyPr>
          <a:lstStyle/>
          <a:p>
            <a:pPr marL="285750" indent="-285750">
              <a:buFont typeface="Wingdings" panose="05000000000000000000" pitchFamily="2" charset="2"/>
              <a:buChar char="Ø"/>
            </a:pPr>
            <a:r>
              <a:rPr lang="en-IN" sz="2000" u="sng" dirty="0"/>
              <a:t>Store 26 (co rel.) sales performance</a:t>
            </a:r>
          </a:p>
        </p:txBody>
      </p:sp>
      <p:sp>
        <p:nvSpPr>
          <p:cNvPr id="3" name="TextBox 2">
            <a:extLst>
              <a:ext uri="{FF2B5EF4-FFF2-40B4-BE49-F238E27FC236}">
                <a16:creationId xmlns:a16="http://schemas.microsoft.com/office/drawing/2014/main" id="{0D3AEB0C-737F-DCF1-E1A3-BD92EC19DE3D}"/>
              </a:ext>
            </a:extLst>
          </p:cNvPr>
          <p:cNvSpPr txBox="1"/>
          <p:nvPr/>
        </p:nvSpPr>
        <p:spPr>
          <a:xfrm>
            <a:off x="8842249" y="669161"/>
            <a:ext cx="3163823" cy="5940088"/>
          </a:xfrm>
          <a:prstGeom prst="rect">
            <a:avLst/>
          </a:prstGeom>
          <a:noFill/>
        </p:spPr>
        <p:txBody>
          <a:bodyPr wrap="square" rtlCol="0">
            <a:spAutoFit/>
          </a:bodyPr>
          <a:lstStyle/>
          <a:p>
            <a:r>
              <a:rPr lang="en-IN" sz="2000" dirty="0"/>
              <a:t>Insights:-</a:t>
            </a:r>
          </a:p>
          <a:p>
            <a:endParaRPr lang="en-IN" sz="2000" dirty="0"/>
          </a:p>
          <a:p>
            <a:r>
              <a:rPr lang="en-IN" sz="2000" dirty="0"/>
              <a:t>In February sales moving between 7 to 11 between but  3 times sales archive highest point.</a:t>
            </a:r>
          </a:p>
          <a:p>
            <a:endParaRPr lang="en-IN" sz="2000" dirty="0"/>
          </a:p>
          <a:p>
            <a:r>
              <a:rPr lang="en-IN" sz="2000" dirty="0"/>
              <a:t>In March sales moving between 8 to 11 between but  5  time sales archive highest point.</a:t>
            </a:r>
          </a:p>
          <a:p>
            <a:endParaRPr lang="en-IN" sz="2000" dirty="0"/>
          </a:p>
          <a:p>
            <a:r>
              <a:rPr lang="en-IN" sz="2000" dirty="0"/>
              <a:t>In April sales moving between 8 to 11 between but  2  time sales archive highest point.</a:t>
            </a:r>
          </a:p>
          <a:p>
            <a:endParaRPr lang="en-IN" sz="2000" dirty="0"/>
          </a:p>
          <a:p>
            <a:endParaRPr lang="en-IN" sz="2000" dirty="0"/>
          </a:p>
          <a:p>
            <a:endParaRPr lang="en-IN" sz="2000" dirty="0"/>
          </a:p>
        </p:txBody>
      </p:sp>
      <p:sp>
        <p:nvSpPr>
          <p:cNvPr id="5" name="Rectangle 4">
            <a:extLst>
              <a:ext uri="{FF2B5EF4-FFF2-40B4-BE49-F238E27FC236}">
                <a16:creationId xmlns:a16="http://schemas.microsoft.com/office/drawing/2014/main" id="{9FC2F726-4D5B-4022-B85F-EFB7C4B859C3}"/>
              </a:ext>
            </a:extLst>
          </p:cNvPr>
          <p:cNvSpPr/>
          <p:nvPr/>
        </p:nvSpPr>
        <p:spPr>
          <a:xfrm>
            <a:off x="1197865" y="1490472"/>
            <a:ext cx="7050024" cy="749808"/>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449D9C68-644A-1DBA-526D-B1101E40E3DF}"/>
              </a:ext>
            </a:extLst>
          </p:cNvPr>
          <p:cNvSpPr/>
          <p:nvPr/>
        </p:nvSpPr>
        <p:spPr>
          <a:xfrm>
            <a:off x="1197865" y="2953512"/>
            <a:ext cx="6940295" cy="685800"/>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46F447DF-FD41-68CE-6A87-ADD15CBDCF40}"/>
              </a:ext>
            </a:extLst>
          </p:cNvPr>
          <p:cNvSpPr/>
          <p:nvPr/>
        </p:nvSpPr>
        <p:spPr>
          <a:xfrm>
            <a:off x="1197865" y="4352544"/>
            <a:ext cx="4050791" cy="747946"/>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8" name="Rectangle 7">
            <a:extLst>
              <a:ext uri="{FF2B5EF4-FFF2-40B4-BE49-F238E27FC236}">
                <a16:creationId xmlns:a16="http://schemas.microsoft.com/office/drawing/2014/main" id="{3D234100-418A-3CE1-4690-1E15E562352D}"/>
              </a:ext>
            </a:extLst>
          </p:cNvPr>
          <p:cNvSpPr/>
          <p:nvPr/>
        </p:nvSpPr>
        <p:spPr>
          <a:xfrm>
            <a:off x="6519673" y="4431792"/>
            <a:ext cx="1618487" cy="747946"/>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0518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575D1-EAC6-A7AE-4D91-0EDCCD890C5D}"/>
            </a:ext>
          </a:extLst>
        </p:cNvPr>
        <p:cNvGrpSpPr/>
        <p:nvPr/>
      </p:nvGrpSpPr>
      <p:grpSpPr>
        <a:xfrm>
          <a:off x="0" y="0"/>
          <a:ext cx="0" cy="0"/>
          <a:chOff x="0" y="0"/>
          <a:chExt cx="0" cy="0"/>
        </a:xfrm>
      </p:grpSpPr>
      <p:pic>
        <p:nvPicPr>
          <p:cNvPr id="18" name="Picture 17" descr="A graph of different colored lines&#10;&#10;AI-generated content may be incorrect.">
            <a:extLst>
              <a:ext uri="{FF2B5EF4-FFF2-40B4-BE49-F238E27FC236}">
                <a16:creationId xmlns:a16="http://schemas.microsoft.com/office/drawing/2014/main" id="{BCCFF8C1-EDC5-96E1-4875-8AA661923D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887" y="770805"/>
            <a:ext cx="7900114" cy="5503561"/>
          </a:xfrm>
          <a:prstGeom prst="rect">
            <a:avLst/>
          </a:prstGeom>
        </p:spPr>
      </p:pic>
      <p:cxnSp>
        <p:nvCxnSpPr>
          <p:cNvPr id="2" name="Straight Arrow Connector 1">
            <a:extLst>
              <a:ext uri="{FF2B5EF4-FFF2-40B4-BE49-F238E27FC236}">
                <a16:creationId xmlns:a16="http://schemas.microsoft.com/office/drawing/2014/main" id="{1D109BA5-EB7B-5457-2718-4D150B545E6F}"/>
              </a:ext>
            </a:extLst>
          </p:cNvPr>
          <p:cNvCxnSpPr>
            <a:cxnSpLocks/>
          </p:cNvCxnSpPr>
          <p:nvPr/>
        </p:nvCxnSpPr>
        <p:spPr>
          <a:xfrm>
            <a:off x="1472184" y="4930479"/>
            <a:ext cx="971172" cy="80975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2ED4B6BF-F91D-1392-5ADD-E9EB90284582}"/>
              </a:ext>
            </a:extLst>
          </p:cNvPr>
          <p:cNvCxnSpPr>
            <a:cxnSpLocks/>
          </p:cNvCxnSpPr>
          <p:nvPr/>
        </p:nvCxnSpPr>
        <p:spPr>
          <a:xfrm flipV="1">
            <a:off x="2443356" y="4811608"/>
            <a:ext cx="1828800" cy="104241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99592A9-22D0-02B9-C62A-DC94D9D32076}"/>
              </a:ext>
            </a:extLst>
          </p:cNvPr>
          <p:cNvCxnSpPr>
            <a:cxnSpLocks/>
          </p:cNvCxnSpPr>
          <p:nvPr/>
        </p:nvCxnSpPr>
        <p:spPr>
          <a:xfrm>
            <a:off x="4475233" y="4855972"/>
            <a:ext cx="1425559" cy="88425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6815FA4D-182D-A547-AF18-970E3B321387}"/>
              </a:ext>
            </a:extLst>
          </p:cNvPr>
          <p:cNvSpPr/>
          <p:nvPr/>
        </p:nvSpPr>
        <p:spPr>
          <a:xfrm>
            <a:off x="5900792" y="4930479"/>
            <a:ext cx="2393569" cy="923544"/>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22" name="Rectangle 21">
            <a:extLst>
              <a:ext uri="{FF2B5EF4-FFF2-40B4-BE49-F238E27FC236}">
                <a16:creationId xmlns:a16="http://schemas.microsoft.com/office/drawing/2014/main" id="{66384AC2-9A15-5A5E-257E-FFB0D6B88CF0}"/>
              </a:ext>
            </a:extLst>
          </p:cNvPr>
          <p:cNvSpPr/>
          <p:nvPr/>
        </p:nvSpPr>
        <p:spPr>
          <a:xfrm>
            <a:off x="1225296" y="1078485"/>
            <a:ext cx="4675496" cy="923544"/>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23" name="Rectangle 22">
            <a:extLst>
              <a:ext uri="{FF2B5EF4-FFF2-40B4-BE49-F238E27FC236}">
                <a16:creationId xmlns:a16="http://schemas.microsoft.com/office/drawing/2014/main" id="{3C79AA5E-0F3E-F12A-7E19-487188F04E45}"/>
              </a:ext>
            </a:extLst>
          </p:cNvPr>
          <p:cNvSpPr/>
          <p:nvPr/>
        </p:nvSpPr>
        <p:spPr>
          <a:xfrm>
            <a:off x="6268436" y="1755648"/>
            <a:ext cx="2026921" cy="747946"/>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25" name="TextBox 24">
            <a:extLst>
              <a:ext uri="{FF2B5EF4-FFF2-40B4-BE49-F238E27FC236}">
                <a16:creationId xmlns:a16="http://schemas.microsoft.com/office/drawing/2014/main" id="{FAC9526D-18A5-43E5-1B8A-EA2FD19A94E2}"/>
              </a:ext>
            </a:extLst>
          </p:cNvPr>
          <p:cNvSpPr txBox="1"/>
          <p:nvPr/>
        </p:nvSpPr>
        <p:spPr>
          <a:xfrm>
            <a:off x="365760" y="252664"/>
            <a:ext cx="4828032" cy="400110"/>
          </a:xfrm>
          <a:prstGeom prst="rect">
            <a:avLst/>
          </a:prstGeom>
          <a:noFill/>
        </p:spPr>
        <p:txBody>
          <a:bodyPr wrap="square" rtlCol="0">
            <a:spAutoFit/>
          </a:bodyPr>
          <a:lstStyle/>
          <a:p>
            <a:pPr marL="285750" indent="-285750">
              <a:buFont typeface="Wingdings" panose="05000000000000000000" pitchFamily="2" charset="2"/>
              <a:buChar char="Ø"/>
            </a:pPr>
            <a:r>
              <a:rPr lang="en-IN" sz="2000" u="sng" dirty="0"/>
              <a:t>Store 171 (co rel.) sales performance</a:t>
            </a:r>
          </a:p>
        </p:txBody>
      </p:sp>
      <p:sp>
        <p:nvSpPr>
          <p:cNvPr id="27" name="TextBox 26">
            <a:extLst>
              <a:ext uri="{FF2B5EF4-FFF2-40B4-BE49-F238E27FC236}">
                <a16:creationId xmlns:a16="http://schemas.microsoft.com/office/drawing/2014/main" id="{BB02B5D8-C1CB-4C67-00F8-3ED0F1374587}"/>
              </a:ext>
            </a:extLst>
          </p:cNvPr>
          <p:cNvSpPr txBox="1"/>
          <p:nvPr/>
        </p:nvSpPr>
        <p:spPr>
          <a:xfrm>
            <a:off x="8728416" y="394692"/>
            <a:ext cx="3509268" cy="6463308"/>
          </a:xfrm>
          <a:prstGeom prst="rect">
            <a:avLst/>
          </a:prstGeom>
          <a:noFill/>
        </p:spPr>
        <p:txBody>
          <a:bodyPr wrap="square" rtlCol="0">
            <a:spAutoFit/>
          </a:bodyPr>
          <a:lstStyle/>
          <a:p>
            <a:r>
              <a:rPr lang="en-IN" dirty="0"/>
              <a:t>Insights:-</a:t>
            </a:r>
          </a:p>
          <a:p>
            <a:endParaRPr lang="en-IN" dirty="0"/>
          </a:p>
          <a:p>
            <a:r>
              <a:rPr lang="en-IN" dirty="0"/>
              <a:t>In February starting 17 days is high but after sales goes down.</a:t>
            </a:r>
          </a:p>
          <a:p>
            <a:endParaRPr lang="en-IN" dirty="0"/>
          </a:p>
          <a:p>
            <a:r>
              <a:rPr lang="en-IN" dirty="0"/>
              <a:t>In starting of march starting with highest point and sales goes drastically and after 2 days sales goes up and generate better sales after 1 week sales goes down for short time and then sales goes up for shot time and then sales crash and goes down. But the 3 or 4 days they sustain the highest peak.</a:t>
            </a:r>
          </a:p>
          <a:p>
            <a:endParaRPr lang="en-IN" dirty="0"/>
          </a:p>
          <a:p>
            <a:r>
              <a:rPr lang="en-IN" dirty="0"/>
              <a:t>In April month stating days sales goes down significantly then then they brake and generate peak and then goes down After continuous pattern immerge range between 7 to 11 one day happened sales break this pattern but after they come up back.</a:t>
            </a:r>
          </a:p>
        </p:txBody>
      </p:sp>
      <p:sp>
        <p:nvSpPr>
          <p:cNvPr id="37" name="Rectangle 36">
            <a:extLst>
              <a:ext uri="{FF2B5EF4-FFF2-40B4-BE49-F238E27FC236}">
                <a16:creationId xmlns:a16="http://schemas.microsoft.com/office/drawing/2014/main" id="{FEA9A799-B00F-11BE-6550-EFEC985232A2}"/>
              </a:ext>
            </a:extLst>
          </p:cNvPr>
          <p:cNvSpPr/>
          <p:nvPr/>
        </p:nvSpPr>
        <p:spPr>
          <a:xfrm>
            <a:off x="6382512" y="2866000"/>
            <a:ext cx="1234440" cy="524686"/>
          </a:xfrm>
          <a:prstGeom prst="rect">
            <a:avLst/>
          </a:prstGeom>
          <a:solidFill>
            <a:schemeClr val="tx2">
              <a:lumMod val="9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cxnSp>
        <p:nvCxnSpPr>
          <p:cNvPr id="38" name="Straight Arrow Connector 37">
            <a:extLst>
              <a:ext uri="{FF2B5EF4-FFF2-40B4-BE49-F238E27FC236}">
                <a16:creationId xmlns:a16="http://schemas.microsoft.com/office/drawing/2014/main" id="{22C95FCA-24BE-81A0-29C8-CEDD7BB9A5AE}"/>
              </a:ext>
            </a:extLst>
          </p:cNvPr>
          <p:cNvCxnSpPr>
            <a:cxnSpLocks/>
          </p:cNvCxnSpPr>
          <p:nvPr/>
        </p:nvCxnSpPr>
        <p:spPr>
          <a:xfrm>
            <a:off x="4935617" y="2933332"/>
            <a:ext cx="1332819" cy="105345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F48B58C-C3BE-12B3-B32D-760BE4F7DFCF}"/>
              </a:ext>
            </a:extLst>
          </p:cNvPr>
          <p:cNvCxnSpPr>
            <a:cxnSpLocks/>
          </p:cNvCxnSpPr>
          <p:nvPr/>
        </p:nvCxnSpPr>
        <p:spPr>
          <a:xfrm flipV="1">
            <a:off x="4424602" y="2891355"/>
            <a:ext cx="358568" cy="109542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E73C6F3-980B-8D5A-447F-C0DB3330EB2E}"/>
              </a:ext>
            </a:extLst>
          </p:cNvPr>
          <p:cNvCxnSpPr>
            <a:cxnSpLocks/>
          </p:cNvCxnSpPr>
          <p:nvPr/>
        </p:nvCxnSpPr>
        <p:spPr>
          <a:xfrm>
            <a:off x="4017464" y="2974914"/>
            <a:ext cx="371682" cy="101187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CEA2953B-5019-49B7-B709-912222E310B7}"/>
              </a:ext>
            </a:extLst>
          </p:cNvPr>
          <p:cNvCxnSpPr>
            <a:cxnSpLocks/>
          </p:cNvCxnSpPr>
          <p:nvPr/>
        </p:nvCxnSpPr>
        <p:spPr>
          <a:xfrm flipV="1">
            <a:off x="1648755" y="2974914"/>
            <a:ext cx="2333253" cy="109542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FA3F3ECC-896D-E5F7-7923-FB2EE81C67F4}"/>
              </a:ext>
            </a:extLst>
          </p:cNvPr>
          <p:cNvCxnSpPr>
            <a:cxnSpLocks/>
          </p:cNvCxnSpPr>
          <p:nvPr/>
        </p:nvCxnSpPr>
        <p:spPr>
          <a:xfrm>
            <a:off x="1225296" y="2960319"/>
            <a:ext cx="371682" cy="101187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4235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7BA57-0E47-98A9-4D82-B2AF62AB30E9}"/>
            </a:ext>
          </a:extLst>
        </p:cNvPr>
        <p:cNvGrpSpPr/>
        <p:nvPr/>
      </p:nvGrpSpPr>
      <p:grpSpPr>
        <a:xfrm>
          <a:off x="0" y="0"/>
          <a:ext cx="0" cy="0"/>
          <a:chOff x="0" y="0"/>
          <a:chExt cx="0" cy="0"/>
        </a:xfrm>
      </p:grpSpPr>
      <p:pic>
        <p:nvPicPr>
          <p:cNvPr id="8" name="Picture 7" descr="A graph of different colored squares&#10;&#10;AI-generated content may be incorrect.">
            <a:extLst>
              <a:ext uri="{FF2B5EF4-FFF2-40B4-BE49-F238E27FC236}">
                <a16:creationId xmlns:a16="http://schemas.microsoft.com/office/drawing/2014/main" id="{EDCB894C-F89D-2FE3-F010-0397762281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7074" y="2254719"/>
            <a:ext cx="2176370" cy="2103008"/>
          </a:xfrm>
          <a:prstGeom prst="rect">
            <a:avLst/>
          </a:prstGeom>
        </p:spPr>
      </p:pic>
      <p:pic>
        <p:nvPicPr>
          <p:cNvPr id="12" name="Picture 11" descr="A graph of a bar chart&#10;&#10;AI-generated content may be incorrect.">
            <a:extLst>
              <a:ext uri="{FF2B5EF4-FFF2-40B4-BE49-F238E27FC236}">
                <a16:creationId xmlns:a16="http://schemas.microsoft.com/office/drawing/2014/main" id="{3071EAC2-BE71-6E68-DADE-86B71E59A8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304" y="4196167"/>
            <a:ext cx="2581299" cy="2247330"/>
          </a:xfrm>
          <a:prstGeom prst="rect">
            <a:avLst/>
          </a:prstGeom>
        </p:spPr>
      </p:pic>
      <p:pic>
        <p:nvPicPr>
          <p:cNvPr id="10" name="Picture 9" descr="A graph of a bar chart&#10;&#10;AI-generated content may be incorrect.">
            <a:extLst>
              <a:ext uri="{FF2B5EF4-FFF2-40B4-BE49-F238E27FC236}">
                <a16:creationId xmlns:a16="http://schemas.microsoft.com/office/drawing/2014/main" id="{C7E8FA2B-1521-54A1-21F5-BD03BDC793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540" y="488316"/>
            <a:ext cx="2568241" cy="2247329"/>
          </a:xfrm>
          <a:prstGeom prst="rect">
            <a:avLst/>
          </a:prstGeom>
        </p:spPr>
      </p:pic>
      <p:pic>
        <p:nvPicPr>
          <p:cNvPr id="11" name="Picture 10" descr="A bar graph with different colored rectangles&#10;&#10;AI-generated content may be incorrect.">
            <a:extLst>
              <a:ext uri="{FF2B5EF4-FFF2-40B4-BE49-F238E27FC236}">
                <a16:creationId xmlns:a16="http://schemas.microsoft.com/office/drawing/2014/main" id="{66E62B66-84E8-5AC3-736B-875F46F34E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75876" y="415116"/>
            <a:ext cx="2662259" cy="2438264"/>
          </a:xfrm>
          <a:prstGeom prst="rect">
            <a:avLst/>
          </a:prstGeom>
        </p:spPr>
      </p:pic>
      <p:pic>
        <p:nvPicPr>
          <p:cNvPr id="15" name="Picture 14" descr="A graph of a number of bars&#10;&#10;AI-generated content may be incorrect.">
            <a:extLst>
              <a:ext uri="{FF2B5EF4-FFF2-40B4-BE49-F238E27FC236}">
                <a16:creationId xmlns:a16="http://schemas.microsoft.com/office/drawing/2014/main" id="{2808142D-8166-99D1-EA2A-B7E9348C4C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61736" y="2306344"/>
            <a:ext cx="2282135" cy="2005033"/>
          </a:xfrm>
          <a:prstGeom prst="rect">
            <a:avLst/>
          </a:prstGeom>
        </p:spPr>
      </p:pic>
      <p:cxnSp>
        <p:nvCxnSpPr>
          <p:cNvPr id="21" name="Straight Connector 20">
            <a:extLst>
              <a:ext uri="{FF2B5EF4-FFF2-40B4-BE49-F238E27FC236}">
                <a16:creationId xmlns:a16="http://schemas.microsoft.com/office/drawing/2014/main" id="{A94E0CFF-B958-E3B0-3FE9-E1679CA5605C}"/>
              </a:ext>
            </a:extLst>
          </p:cNvPr>
          <p:cNvCxnSpPr>
            <a:cxnSpLocks/>
          </p:cNvCxnSpPr>
          <p:nvPr/>
        </p:nvCxnSpPr>
        <p:spPr>
          <a:xfrm>
            <a:off x="2807598" y="1496494"/>
            <a:ext cx="1888264" cy="0"/>
          </a:xfrm>
          <a:prstGeom prst="line">
            <a:avLst/>
          </a:prstGeom>
          <a:ln w="190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71E88A9D-0A9D-8DBE-9EA1-B79BC3310B7E}"/>
              </a:ext>
            </a:extLst>
          </p:cNvPr>
          <p:cNvCxnSpPr>
            <a:cxnSpLocks/>
          </p:cNvCxnSpPr>
          <p:nvPr/>
        </p:nvCxnSpPr>
        <p:spPr>
          <a:xfrm>
            <a:off x="4698866" y="4357727"/>
            <a:ext cx="0" cy="1267571"/>
          </a:xfrm>
          <a:prstGeom prst="line">
            <a:avLst/>
          </a:prstGeom>
          <a:ln w="190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CA178F78-444B-B66C-D64D-B56CFC5D246B}"/>
              </a:ext>
            </a:extLst>
          </p:cNvPr>
          <p:cNvCxnSpPr>
            <a:cxnSpLocks/>
          </p:cNvCxnSpPr>
          <p:nvPr/>
        </p:nvCxnSpPr>
        <p:spPr>
          <a:xfrm>
            <a:off x="2810602" y="5608748"/>
            <a:ext cx="1888264" cy="0"/>
          </a:xfrm>
          <a:prstGeom prst="line">
            <a:avLst/>
          </a:prstGeom>
          <a:ln w="190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D98E053C-209C-CFE1-2B48-65C186005276}"/>
              </a:ext>
            </a:extLst>
          </p:cNvPr>
          <p:cNvCxnSpPr>
            <a:cxnSpLocks/>
          </p:cNvCxnSpPr>
          <p:nvPr/>
        </p:nvCxnSpPr>
        <p:spPr>
          <a:xfrm>
            <a:off x="7224563" y="933875"/>
            <a:ext cx="0" cy="1345503"/>
          </a:xfrm>
          <a:prstGeom prst="line">
            <a:avLst/>
          </a:prstGeom>
          <a:ln w="190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FA5C349-A0EF-485B-FDAF-20E65B5DD9DD}"/>
              </a:ext>
            </a:extLst>
          </p:cNvPr>
          <p:cNvCxnSpPr>
            <a:cxnSpLocks/>
          </p:cNvCxnSpPr>
          <p:nvPr/>
        </p:nvCxnSpPr>
        <p:spPr>
          <a:xfrm>
            <a:off x="7195995" y="906909"/>
            <a:ext cx="2221404" cy="26966"/>
          </a:xfrm>
          <a:prstGeom prst="line">
            <a:avLst/>
          </a:prstGeom>
          <a:ln w="190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B6C45169-4340-41E6-CAC0-A6C4F0156FCD}"/>
              </a:ext>
            </a:extLst>
          </p:cNvPr>
          <p:cNvCxnSpPr>
            <a:cxnSpLocks/>
          </p:cNvCxnSpPr>
          <p:nvPr/>
        </p:nvCxnSpPr>
        <p:spPr>
          <a:xfrm>
            <a:off x="7195995" y="5625298"/>
            <a:ext cx="2295753" cy="0"/>
          </a:xfrm>
          <a:prstGeom prst="line">
            <a:avLst/>
          </a:prstGeom>
          <a:ln w="190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95DDC510-2C31-1B36-5BDC-8B4351C2CD6C}"/>
              </a:ext>
            </a:extLst>
          </p:cNvPr>
          <p:cNvCxnSpPr>
            <a:cxnSpLocks/>
          </p:cNvCxnSpPr>
          <p:nvPr/>
        </p:nvCxnSpPr>
        <p:spPr>
          <a:xfrm>
            <a:off x="4684628" y="1513498"/>
            <a:ext cx="14238" cy="651559"/>
          </a:xfrm>
          <a:prstGeom prst="line">
            <a:avLst/>
          </a:prstGeom>
          <a:ln w="19050">
            <a:solidFill>
              <a:srgbClr val="FF0000"/>
            </a:solidFill>
          </a:ln>
        </p:spPr>
        <p:style>
          <a:lnRef idx="2">
            <a:schemeClr val="accent1"/>
          </a:lnRef>
          <a:fillRef idx="0">
            <a:schemeClr val="accent1"/>
          </a:fillRef>
          <a:effectRef idx="1">
            <a:schemeClr val="accent1"/>
          </a:effectRef>
          <a:fontRef idx="minor">
            <a:schemeClr val="tx1"/>
          </a:fontRef>
        </p:style>
      </p:cxnSp>
      <p:sp>
        <p:nvSpPr>
          <p:cNvPr id="55" name="Subtitle 46">
            <a:extLst>
              <a:ext uri="{FF2B5EF4-FFF2-40B4-BE49-F238E27FC236}">
                <a16:creationId xmlns:a16="http://schemas.microsoft.com/office/drawing/2014/main" id="{18734956-77B4-4C77-C680-F39D9A75CDBC}"/>
              </a:ext>
            </a:extLst>
          </p:cNvPr>
          <p:cNvSpPr txBox="1">
            <a:spLocks/>
          </p:cNvSpPr>
          <p:nvPr/>
        </p:nvSpPr>
        <p:spPr>
          <a:xfrm>
            <a:off x="6735359" y="1839277"/>
            <a:ext cx="978408" cy="244204"/>
          </a:xfrm>
          <a:prstGeom prst="roundRect">
            <a:avLst/>
          </a:prstGeom>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ctr">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dk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dk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dk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9pPr>
          </a:lstStyle>
          <a:p>
            <a:r>
              <a:rPr lang="en-IN" dirty="0"/>
              <a:t>Store 171</a:t>
            </a:r>
          </a:p>
        </p:txBody>
      </p:sp>
      <p:cxnSp>
        <p:nvCxnSpPr>
          <p:cNvPr id="68" name="Straight Connector 67">
            <a:extLst>
              <a:ext uri="{FF2B5EF4-FFF2-40B4-BE49-F238E27FC236}">
                <a16:creationId xmlns:a16="http://schemas.microsoft.com/office/drawing/2014/main" id="{1C273DAB-CB64-649C-C900-7FC3B73A0523}"/>
              </a:ext>
            </a:extLst>
          </p:cNvPr>
          <p:cNvCxnSpPr>
            <a:cxnSpLocks/>
          </p:cNvCxnSpPr>
          <p:nvPr/>
        </p:nvCxnSpPr>
        <p:spPr>
          <a:xfrm>
            <a:off x="7195995" y="4357730"/>
            <a:ext cx="0" cy="1267568"/>
          </a:xfrm>
          <a:prstGeom prst="line">
            <a:avLst/>
          </a:prstGeom>
          <a:ln w="19050">
            <a:solidFill>
              <a:srgbClr val="FF0000"/>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7B806E0E-B429-EF5C-3A05-2CAB9843351F}"/>
              </a:ext>
            </a:extLst>
          </p:cNvPr>
          <p:cNvSpPr txBox="1"/>
          <p:nvPr/>
        </p:nvSpPr>
        <p:spPr>
          <a:xfrm>
            <a:off x="339997" y="15006"/>
            <a:ext cx="8892861" cy="400110"/>
          </a:xfrm>
          <a:prstGeom prst="rect">
            <a:avLst/>
          </a:prstGeom>
          <a:noFill/>
        </p:spPr>
        <p:txBody>
          <a:bodyPr wrap="square" rtlCol="0">
            <a:spAutoFit/>
          </a:bodyPr>
          <a:lstStyle/>
          <a:p>
            <a:pPr marL="285750" indent="-285750">
              <a:buFont typeface="Wingdings" panose="05000000000000000000" pitchFamily="2" charset="2"/>
              <a:buChar char="Ø"/>
            </a:pPr>
            <a:r>
              <a:rPr lang="en-IN" sz="2000" u="sng" dirty="0"/>
              <a:t>Most co related store similar to trail store - relationship (</a:t>
            </a:r>
            <a:r>
              <a:rPr lang="en-IN" sz="2000" u="sng" dirty="0" err="1"/>
              <a:t>Pearosn</a:t>
            </a:r>
            <a:r>
              <a:rPr lang="en-IN" sz="2000" u="sng" dirty="0"/>
              <a:t> r):-   </a:t>
            </a:r>
          </a:p>
        </p:txBody>
      </p:sp>
      <p:sp>
        <p:nvSpPr>
          <p:cNvPr id="5" name="Subtitle 46">
            <a:extLst>
              <a:ext uri="{FF2B5EF4-FFF2-40B4-BE49-F238E27FC236}">
                <a16:creationId xmlns:a16="http://schemas.microsoft.com/office/drawing/2014/main" id="{5158C604-EBC9-B518-0A55-CDE496983D0F}"/>
              </a:ext>
            </a:extLst>
          </p:cNvPr>
          <p:cNvSpPr txBox="1">
            <a:spLocks/>
          </p:cNvSpPr>
          <p:nvPr/>
        </p:nvSpPr>
        <p:spPr>
          <a:xfrm>
            <a:off x="4211929" y="1839277"/>
            <a:ext cx="978408" cy="244204"/>
          </a:xfrm>
          <a:prstGeom prst="roundRect">
            <a:avLst/>
          </a:prstGeom>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ctr">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dk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dk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dk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dk1"/>
                </a:solidFill>
                <a:latin typeface="+mn-lt"/>
                <a:ea typeface="+mn-ea"/>
                <a:cs typeface="+mn-cs"/>
              </a:defRPr>
            </a:lvl9pPr>
          </a:lstStyle>
          <a:p>
            <a:r>
              <a:rPr lang="en-IN" dirty="0"/>
              <a:t>Store 26</a:t>
            </a:r>
          </a:p>
        </p:txBody>
      </p:sp>
      <p:pic>
        <p:nvPicPr>
          <p:cNvPr id="26" name="Picture 25" descr="A bar graph with different colored rectangles&#10;&#10;AI-generated content may be incorrect.">
            <a:extLst>
              <a:ext uri="{FF2B5EF4-FFF2-40B4-BE49-F238E27FC236}">
                <a16:creationId xmlns:a16="http://schemas.microsoft.com/office/drawing/2014/main" id="{8A288E28-D0A4-D1AD-B40D-1F39EDC761B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417399" y="4196167"/>
            <a:ext cx="2581297" cy="2578482"/>
          </a:xfrm>
          <a:prstGeom prst="rect">
            <a:avLst/>
          </a:prstGeom>
        </p:spPr>
      </p:pic>
    </p:spTree>
    <p:extLst>
      <p:ext uri="{BB962C8B-B14F-4D97-AF65-F5344CB8AC3E}">
        <p14:creationId xmlns:p14="http://schemas.microsoft.com/office/powerpoint/2010/main" val="2935242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2FDA1-22EC-F529-691D-8C6BBA6BACD1}"/>
            </a:ext>
          </a:extLst>
        </p:cNvPr>
        <p:cNvGrpSpPr/>
        <p:nvPr/>
      </p:nvGrpSpPr>
      <p:grpSpPr>
        <a:xfrm>
          <a:off x="0" y="0"/>
          <a:ext cx="0" cy="0"/>
          <a:chOff x="0" y="0"/>
          <a:chExt cx="0" cy="0"/>
        </a:xfrm>
      </p:grpSpPr>
      <p:pic>
        <p:nvPicPr>
          <p:cNvPr id="22" name="Picture 21" descr="A graph with blue and orange squares&#10;&#10;AI-generated content may be incorrect.">
            <a:extLst>
              <a:ext uri="{FF2B5EF4-FFF2-40B4-BE49-F238E27FC236}">
                <a16:creationId xmlns:a16="http://schemas.microsoft.com/office/drawing/2014/main" id="{006B1D3C-4F2B-B776-F04B-DF36BCEB1D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8306" y="912400"/>
            <a:ext cx="2571882" cy="2231920"/>
          </a:xfrm>
          <a:prstGeom prst="rect">
            <a:avLst/>
          </a:prstGeom>
        </p:spPr>
      </p:pic>
      <p:pic>
        <p:nvPicPr>
          <p:cNvPr id="6" name="Picture 5" descr="A graph with different colored squares&#10;&#10;AI-generated content may be incorrect.">
            <a:extLst>
              <a:ext uri="{FF2B5EF4-FFF2-40B4-BE49-F238E27FC236}">
                <a16:creationId xmlns:a16="http://schemas.microsoft.com/office/drawing/2014/main" id="{CDB4F529-BDAD-B9FF-4DFF-F18529847B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235" y="2064936"/>
            <a:ext cx="2718186" cy="2158768"/>
          </a:xfrm>
          <a:prstGeom prst="rect">
            <a:avLst/>
          </a:prstGeom>
        </p:spPr>
      </p:pic>
      <p:sp>
        <p:nvSpPr>
          <p:cNvPr id="2" name="TextBox 1">
            <a:extLst>
              <a:ext uri="{FF2B5EF4-FFF2-40B4-BE49-F238E27FC236}">
                <a16:creationId xmlns:a16="http://schemas.microsoft.com/office/drawing/2014/main" id="{F50B23BD-DD88-C82C-61CB-DB694B6AE6D8}"/>
              </a:ext>
            </a:extLst>
          </p:cNvPr>
          <p:cNvSpPr txBox="1"/>
          <p:nvPr/>
        </p:nvSpPr>
        <p:spPr>
          <a:xfrm>
            <a:off x="667512" y="452800"/>
            <a:ext cx="5980176" cy="369332"/>
          </a:xfrm>
          <a:prstGeom prst="rect">
            <a:avLst/>
          </a:prstGeom>
          <a:noFill/>
        </p:spPr>
        <p:txBody>
          <a:bodyPr wrap="square" rtlCol="0">
            <a:spAutoFit/>
          </a:bodyPr>
          <a:lstStyle/>
          <a:p>
            <a:pPr marL="285750" indent="-285750">
              <a:buFont typeface="Wingdings" panose="05000000000000000000" pitchFamily="2" charset="2"/>
              <a:buChar char="Ø"/>
            </a:pPr>
            <a:r>
              <a:rPr lang="en-IN" u="sng" dirty="0"/>
              <a:t>Trail store and co store Total Revenue</a:t>
            </a:r>
          </a:p>
        </p:txBody>
      </p:sp>
      <p:cxnSp>
        <p:nvCxnSpPr>
          <p:cNvPr id="8" name="Straight Connector 7">
            <a:extLst>
              <a:ext uri="{FF2B5EF4-FFF2-40B4-BE49-F238E27FC236}">
                <a16:creationId xmlns:a16="http://schemas.microsoft.com/office/drawing/2014/main" id="{B732996E-D8F9-7BFA-609E-E754DE5699FE}"/>
              </a:ext>
            </a:extLst>
          </p:cNvPr>
          <p:cNvCxnSpPr>
            <a:cxnSpLocks/>
          </p:cNvCxnSpPr>
          <p:nvPr/>
        </p:nvCxnSpPr>
        <p:spPr>
          <a:xfrm flipV="1">
            <a:off x="2351950" y="822132"/>
            <a:ext cx="0" cy="1162116"/>
          </a:xfrm>
          <a:prstGeom prst="line">
            <a:avLst/>
          </a:prstGeom>
          <a:ln w="190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AF70F36A-0EBA-0725-8AFF-01EC07F8E54A}"/>
              </a:ext>
            </a:extLst>
          </p:cNvPr>
          <p:cNvCxnSpPr>
            <a:cxnSpLocks/>
          </p:cNvCxnSpPr>
          <p:nvPr/>
        </p:nvCxnSpPr>
        <p:spPr>
          <a:xfrm flipH="1" flipV="1">
            <a:off x="3579836" y="854550"/>
            <a:ext cx="3506" cy="827946"/>
          </a:xfrm>
          <a:prstGeom prst="line">
            <a:avLst/>
          </a:prstGeom>
          <a:ln w="190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9B5D07-C075-0329-A11D-99F889739B8C}"/>
              </a:ext>
            </a:extLst>
          </p:cNvPr>
          <p:cNvCxnSpPr>
            <a:cxnSpLocks/>
          </p:cNvCxnSpPr>
          <p:nvPr/>
        </p:nvCxnSpPr>
        <p:spPr>
          <a:xfrm flipH="1">
            <a:off x="3581005" y="1682496"/>
            <a:ext cx="1060704" cy="0"/>
          </a:xfrm>
          <a:prstGeom prst="line">
            <a:avLst/>
          </a:prstGeom>
          <a:ln w="19050">
            <a:solidFill>
              <a:srgbClr val="FF0000"/>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41A0071F-5668-0FBE-3521-493669E1460B}"/>
              </a:ext>
            </a:extLst>
          </p:cNvPr>
          <p:cNvSpPr txBox="1"/>
          <p:nvPr/>
        </p:nvSpPr>
        <p:spPr>
          <a:xfrm>
            <a:off x="3657600" y="3144320"/>
            <a:ext cx="8604504" cy="3693319"/>
          </a:xfrm>
          <a:prstGeom prst="rect">
            <a:avLst/>
          </a:prstGeom>
          <a:noFill/>
        </p:spPr>
        <p:txBody>
          <a:bodyPr wrap="square" rtlCol="0">
            <a:spAutoFit/>
          </a:bodyPr>
          <a:lstStyle/>
          <a:p>
            <a:pPr marL="285750" indent="-285750">
              <a:buFont typeface="Wingdings" panose="05000000000000000000" pitchFamily="2" charset="2"/>
              <a:buChar char="Ø"/>
            </a:pPr>
            <a:r>
              <a:rPr lang="en-IN" u="sng" dirty="0"/>
              <a:t>Conclusion:-</a:t>
            </a:r>
            <a:br>
              <a:rPr lang="en-US" dirty="0"/>
            </a:br>
            <a:r>
              <a:rPr lang="en-US" dirty="0"/>
              <a:t>The Pyramid Framework analysis reveals that trial stores (77, 86, and 88) showed significant sales fluctuations across February, March, and April, with pronounced peaks, especially in March. In contrast, co-relation stores (26 and 171) demonstrated more consistent patterns, albeit with occasional spikes.</a:t>
            </a:r>
          </a:p>
          <a:p>
            <a:endParaRPr lang="en-US" dirty="0"/>
          </a:p>
          <a:p>
            <a:r>
              <a:rPr lang="en-US" dirty="0"/>
              <a:t>      March emerged as a high-revenue month for all stores, while February saw relatively  </a:t>
            </a:r>
          </a:p>
          <a:p>
            <a:r>
              <a:rPr lang="en-US" dirty="0"/>
              <a:t>     lower sales across the trial stores. April marked a general decline, particularly notable in               </a:t>
            </a:r>
          </a:p>
          <a:p>
            <a:r>
              <a:rPr lang="en-US" dirty="0"/>
              <a:t>     trial stores, though some sporadic peaks occurred.</a:t>
            </a:r>
          </a:p>
          <a:p>
            <a:r>
              <a:rPr lang="en-US" dirty="0"/>
              <a:t>     The similarity in performance trends between co-relation and trial stores suggests a  </a:t>
            </a:r>
          </a:p>
          <a:p>
            <a:r>
              <a:rPr lang="en-US" dirty="0"/>
              <a:t>     degree of alignment, as highlighted by the Pearson correlation insights. These patterns </a:t>
            </a:r>
          </a:p>
          <a:p>
            <a:r>
              <a:rPr lang="en-US" dirty="0"/>
              <a:t>     inform opportunities for targeted strategies and interventions to stabilize and optimize </a:t>
            </a:r>
          </a:p>
          <a:p>
            <a:r>
              <a:rPr lang="en-US" dirty="0"/>
              <a:t>     sales across store types.</a:t>
            </a:r>
            <a:endParaRPr lang="en-IN" u="sng" dirty="0"/>
          </a:p>
        </p:txBody>
      </p:sp>
    </p:spTree>
    <p:extLst>
      <p:ext uri="{BB962C8B-B14F-4D97-AF65-F5344CB8AC3E}">
        <p14:creationId xmlns:p14="http://schemas.microsoft.com/office/powerpoint/2010/main" val="2583366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32009-D93F-B25F-1D1E-72212681BEC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7961633-48BB-B324-580E-3447818A6489}"/>
              </a:ext>
            </a:extLst>
          </p:cNvPr>
          <p:cNvSpPr>
            <a:spLocks noGrp="1"/>
          </p:cNvSpPr>
          <p:nvPr>
            <p:ph type="subTitle" idx="1"/>
          </p:nvPr>
        </p:nvSpPr>
        <p:spPr>
          <a:xfrm>
            <a:off x="998942" y="3140964"/>
            <a:ext cx="2423160" cy="576072"/>
          </a:xfrm>
        </p:spPr>
        <p:txBody>
          <a:bodyPr>
            <a:normAutofit/>
          </a:bodyPr>
          <a:lstStyle/>
          <a:p>
            <a:pPr algn="l"/>
            <a:r>
              <a:rPr lang="en-IN" sz="2000" dirty="0"/>
              <a:t>Thank You</a:t>
            </a:r>
          </a:p>
        </p:txBody>
      </p:sp>
    </p:spTree>
    <p:extLst>
      <p:ext uri="{BB962C8B-B14F-4D97-AF65-F5344CB8AC3E}">
        <p14:creationId xmlns:p14="http://schemas.microsoft.com/office/powerpoint/2010/main" val="15269171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6476F"/>
      </a:dk2>
      <a:lt2>
        <a:srgbClr val="EBEBEB"/>
      </a:lt2>
      <a:accent1>
        <a:srgbClr val="E5B458"/>
      </a:accent1>
      <a:accent2>
        <a:srgbClr val="F77754"/>
      </a:accent2>
      <a:accent3>
        <a:srgbClr val="D8507E"/>
      </a:accent3>
      <a:accent4>
        <a:srgbClr val="BC70EE"/>
      </a:accent4>
      <a:accent5>
        <a:srgbClr val="3CA2E2"/>
      </a:accent5>
      <a:accent6>
        <a:srgbClr val="91BF77"/>
      </a:accent6>
      <a:hlink>
        <a:srgbClr val="71DDAB"/>
      </a:hlink>
      <a:folHlink>
        <a:srgbClr val="A6E4C7"/>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B36E0D05-787B-4C61-8268-2D6C1FBEDA32}"/>
    </a:ext>
  </a:extLst>
</a:theme>
</file>

<file path=docProps/app.xml><?xml version="1.0" encoding="utf-8"?>
<Properties xmlns="http://schemas.openxmlformats.org/officeDocument/2006/extended-properties" xmlns:vt="http://schemas.openxmlformats.org/officeDocument/2006/docPropsVTypes">
  <Template>TM03457452[[fn=Celestial]]</Template>
  <TotalTime>521</TotalTime>
  <Words>953</Words>
  <Application>Microsoft Office PowerPoint</Application>
  <PresentationFormat>Widescreen</PresentationFormat>
  <Paragraphs>92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Wingdings</vt: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Sumen Mallick</dc:creator>
  <cp:lastModifiedBy>Sumen Mallick</cp:lastModifiedBy>
  <cp:revision>34</cp:revision>
  <dcterms:created xsi:type="dcterms:W3CDTF">2025-06-09T04:21:11Z</dcterms:created>
  <dcterms:modified xsi:type="dcterms:W3CDTF">2025-06-11T11:06:48Z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2025-06-09T04:21:21Z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ef9d5458-6ce5-4bb1-9bcd-bbd6d4513acb</vt:lpwstr>
  </property>
  <property fmtid="{D5CDD505-2E9C-101B-9397-08002B2CF9AE}" pid="7" name="MSIP_Label_defa4170-0d19-0005-0004-bc88714345d2_ActionId">
    <vt:lpwstr>be1cb2ed-c94e-4567-b400-ec20a3098612</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